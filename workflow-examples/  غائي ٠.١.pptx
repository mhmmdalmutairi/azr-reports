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 id="268" r:id="rId3"/>
    <p:sldId id="260" r:id="rId4"/>
    <p:sldId id="267" r:id="rId5"/>
    <p:sldId id="262" r:id="rId6"/>
    <p:sldId id="261" r:id="rId7"/>
    <p:sldId id="263" r:id="rId8"/>
    <p:sldId id="257" r:id="rId9"/>
    <p:sldId id="266" r:id="rId10"/>
    <p:sldId id="265" r:id="rId11"/>
    <p:sldId id="264" r:id="rId12"/>
    <p:sldId id="269"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Lst>
  <p:sldSz cx="12192000" cy="6858000"/>
  <p:notesSz cx="6858000" cy="9144000"/>
  <p:defaultText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A2A391C8-1666-6F4D-A20F-4E7C1F6CF6C7}">
          <p14:sldIdLst>
            <p14:sldId id="259"/>
            <p14:sldId id="268"/>
            <p14:sldId id="260"/>
            <p14:sldId id="267"/>
          </p14:sldIdLst>
        </p14:section>
        <p14:section name="كيف بدأ المحتوى ؟" id="{F09B43C0-5714-9D4E-A261-E403A0C3AA46}">
          <p14:sldIdLst>
            <p14:sldId id="262"/>
            <p14:sldId id="261"/>
            <p14:sldId id="263"/>
          </p14:sldIdLst>
        </p14:section>
        <p14:section name="الفكرة الجوهرية" id="{FE944D9A-0228-F341-A230-FC86EB3FD304}">
          <p14:sldIdLst>
            <p14:sldId id="257"/>
            <p14:sldId id="266"/>
            <p14:sldId id="265"/>
            <p14:sldId id="264"/>
          </p14:sldIdLst>
        </p14:section>
        <p14:section name="مؤشرات قياس الأثر" id="{00557E75-5122-CB46-9FC4-560C0D5EB896}">
          <p14:sldIdLst>
            <p14:sldId id="269"/>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ملحق" id="{548A9286-55B6-2346-9F58-207CEE1EDAE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F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51"/>
    <p:restoredTop sz="94691"/>
  </p:normalViewPr>
  <p:slideViewPr>
    <p:cSldViewPr snapToGrid="0">
      <p:cViewPr>
        <p:scale>
          <a:sx n="117" d="100"/>
          <a:sy n="117" d="100"/>
        </p:scale>
        <p:origin x="600"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64C3A-6D83-48A0-9115-7259F72269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A"/>
          </a:p>
        </p:txBody>
      </p:sp>
      <p:sp>
        <p:nvSpPr>
          <p:cNvPr id="3" name="Subtitle 2">
            <a:extLst>
              <a:ext uri="{FF2B5EF4-FFF2-40B4-BE49-F238E27FC236}">
                <a16:creationId xmlns:a16="http://schemas.microsoft.com/office/drawing/2014/main" id="{4DE3F622-4C51-DECF-6BB4-165B96A2A9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A"/>
          </a:p>
        </p:txBody>
      </p:sp>
      <p:sp>
        <p:nvSpPr>
          <p:cNvPr id="4" name="Date Placeholder 3">
            <a:extLst>
              <a:ext uri="{FF2B5EF4-FFF2-40B4-BE49-F238E27FC236}">
                <a16:creationId xmlns:a16="http://schemas.microsoft.com/office/drawing/2014/main" id="{C2714302-60F0-DF5D-6215-2350630F4E52}"/>
              </a:ext>
            </a:extLst>
          </p:cNvPr>
          <p:cNvSpPr>
            <a:spLocks noGrp="1"/>
          </p:cNvSpPr>
          <p:nvPr>
            <p:ph type="dt" sz="half" idx="10"/>
          </p:nvPr>
        </p:nvSpPr>
        <p:spPr/>
        <p:txBody>
          <a:bodyPr/>
          <a:lstStyle/>
          <a:p>
            <a:fld id="{174F0CFF-6086-764F-9C61-F9B823A1F258}" type="datetimeFigureOut">
              <a:t>2 صفر، 1446</a:t>
            </a:fld>
            <a:endParaRPr lang="en-SA"/>
          </a:p>
        </p:txBody>
      </p:sp>
      <p:sp>
        <p:nvSpPr>
          <p:cNvPr id="5" name="Footer Placeholder 4">
            <a:extLst>
              <a:ext uri="{FF2B5EF4-FFF2-40B4-BE49-F238E27FC236}">
                <a16:creationId xmlns:a16="http://schemas.microsoft.com/office/drawing/2014/main" id="{6F8368C6-0F0C-8CBD-E611-6881286B2187}"/>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B37E28AA-8687-5B81-6794-C43BFE5A227D}"/>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4291014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44422-D84D-C001-9C80-355573D1B9F4}"/>
              </a:ext>
            </a:extLst>
          </p:cNvPr>
          <p:cNvSpPr>
            <a:spLocks noGrp="1"/>
          </p:cNvSpPr>
          <p:nvPr>
            <p:ph type="title"/>
          </p:nvPr>
        </p:nvSpPr>
        <p:spPr/>
        <p:txBody>
          <a:bodyPr/>
          <a:lstStyle/>
          <a:p>
            <a:r>
              <a:rPr lang="en-US"/>
              <a:t>Click to edit Master title style</a:t>
            </a:r>
            <a:endParaRPr lang="en-SA"/>
          </a:p>
        </p:txBody>
      </p:sp>
      <p:sp>
        <p:nvSpPr>
          <p:cNvPr id="3" name="Content Placeholder 2">
            <a:extLst>
              <a:ext uri="{FF2B5EF4-FFF2-40B4-BE49-F238E27FC236}">
                <a16:creationId xmlns:a16="http://schemas.microsoft.com/office/drawing/2014/main" id="{06D01CD6-1D1F-DC80-AD7B-C5DF8D3E5C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C7F74A7B-C9AB-3CB5-23CF-3C3AF5A907B6}"/>
              </a:ext>
            </a:extLst>
          </p:cNvPr>
          <p:cNvSpPr>
            <a:spLocks noGrp="1"/>
          </p:cNvSpPr>
          <p:nvPr>
            <p:ph type="dt" sz="half" idx="10"/>
          </p:nvPr>
        </p:nvSpPr>
        <p:spPr/>
        <p:txBody>
          <a:bodyPr/>
          <a:lstStyle/>
          <a:p>
            <a:fld id="{174F0CFF-6086-764F-9C61-F9B823A1F258}" type="datetimeFigureOut">
              <a:t>2 صفر، 1446</a:t>
            </a:fld>
            <a:endParaRPr lang="en-SA"/>
          </a:p>
        </p:txBody>
      </p:sp>
      <p:sp>
        <p:nvSpPr>
          <p:cNvPr id="5" name="Footer Placeholder 4">
            <a:extLst>
              <a:ext uri="{FF2B5EF4-FFF2-40B4-BE49-F238E27FC236}">
                <a16:creationId xmlns:a16="http://schemas.microsoft.com/office/drawing/2014/main" id="{F2BA8980-C46C-CF9F-3936-55300DA0C8B3}"/>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81B431F1-E8B4-9045-EB1C-2803D9736B27}"/>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2499938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3CE6F-361D-49AA-F64F-35CC7B741A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A"/>
          </a:p>
        </p:txBody>
      </p:sp>
      <p:sp>
        <p:nvSpPr>
          <p:cNvPr id="3" name="Text Placeholder 2">
            <a:extLst>
              <a:ext uri="{FF2B5EF4-FFF2-40B4-BE49-F238E27FC236}">
                <a16:creationId xmlns:a16="http://schemas.microsoft.com/office/drawing/2014/main" id="{E0E5FA51-5B29-4DCC-DA90-4047CAFBE9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A4C5DC-4CFA-DCE4-E738-EEEE6EC96044}"/>
              </a:ext>
            </a:extLst>
          </p:cNvPr>
          <p:cNvSpPr>
            <a:spLocks noGrp="1"/>
          </p:cNvSpPr>
          <p:nvPr>
            <p:ph type="dt" sz="half" idx="10"/>
          </p:nvPr>
        </p:nvSpPr>
        <p:spPr/>
        <p:txBody>
          <a:bodyPr/>
          <a:lstStyle/>
          <a:p>
            <a:fld id="{174F0CFF-6086-764F-9C61-F9B823A1F258}" type="datetimeFigureOut">
              <a:t>2 صفر، 1446</a:t>
            </a:fld>
            <a:endParaRPr lang="en-SA"/>
          </a:p>
        </p:txBody>
      </p:sp>
      <p:sp>
        <p:nvSpPr>
          <p:cNvPr id="5" name="Footer Placeholder 4">
            <a:extLst>
              <a:ext uri="{FF2B5EF4-FFF2-40B4-BE49-F238E27FC236}">
                <a16:creationId xmlns:a16="http://schemas.microsoft.com/office/drawing/2014/main" id="{41AC2E66-A65C-3FD4-8664-DB746B0A5E71}"/>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5FA4583B-F967-783F-1A8F-BF6F666DA1DD}"/>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1113018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8AEDF-5788-1E9A-D1D0-CD38EC5D5D20}"/>
              </a:ext>
            </a:extLst>
          </p:cNvPr>
          <p:cNvSpPr>
            <a:spLocks noGrp="1"/>
          </p:cNvSpPr>
          <p:nvPr>
            <p:ph type="title"/>
          </p:nvPr>
        </p:nvSpPr>
        <p:spPr/>
        <p:txBody>
          <a:bodyPr/>
          <a:lstStyle/>
          <a:p>
            <a:r>
              <a:rPr lang="en-US"/>
              <a:t>Click to edit Master title style</a:t>
            </a:r>
            <a:endParaRPr lang="en-SA"/>
          </a:p>
        </p:txBody>
      </p:sp>
      <p:sp>
        <p:nvSpPr>
          <p:cNvPr id="3" name="Content Placeholder 2">
            <a:extLst>
              <a:ext uri="{FF2B5EF4-FFF2-40B4-BE49-F238E27FC236}">
                <a16:creationId xmlns:a16="http://schemas.microsoft.com/office/drawing/2014/main" id="{152829E0-E1B0-C800-7338-32FC3E863F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Content Placeholder 3">
            <a:extLst>
              <a:ext uri="{FF2B5EF4-FFF2-40B4-BE49-F238E27FC236}">
                <a16:creationId xmlns:a16="http://schemas.microsoft.com/office/drawing/2014/main" id="{4BE91404-0AF2-4584-6F0D-3225EBD98D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5" name="Date Placeholder 4">
            <a:extLst>
              <a:ext uri="{FF2B5EF4-FFF2-40B4-BE49-F238E27FC236}">
                <a16:creationId xmlns:a16="http://schemas.microsoft.com/office/drawing/2014/main" id="{FF79DAAC-68C1-D81C-F0EE-20DE430A086D}"/>
              </a:ext>
            </a:extLst>
          </p:cNvPr>
          <p:cNvSpPr>
            <a:spLocks noGrp="1"/>
          </p:cNvSpPr>
          <p:nvPr>
            <p:ph type="dt" sz="half" idx="10"/>
          </p:nvPr>
        </p:nvSpPr>
        <p:spPr/>
        <p:txBody>
          <a:bodyPr/>
          <a:lstStyle/>
          <a:p>
            <a:fld id="{174F0CFF-6086-764F-9C61-F9B823A1F258}" type="datetimeFigureOut">
              <a:t>2 صفر، 1446</a:t>
            </a:fld>
            <a:endParaRPr lang="en-SA"/>
          </a:p>
        </p:txBody>
      </p:sp>
      <p:sp>
        <p:nvSpPr>
          <p:cNvPr id="6" name="Footer Placeholder 5">
            <a:extLst>
              <a:ext uri="{FF2B5EF4-FFF2-40B4-BE49-F238E27FC236}">
                <a16:creationId xmlns:a16="http://schemas.microsoft.com/office/drawing/2014/main" id="{419B08A8-0DC4-5ECD-F31F-96B9EE7D0E2C}"/>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BDE8B6A0-995B-18A6-A7A9-2320B7C35FB4}"/>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913943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90386-EC15-F29C-7578-BD3EE8700742}"/>
              </a:ext>
            </a:extLst>
          </p:cNvPr>
          <p:cNvSpPr>
            <a:spLocks noGrp="1"/>
          </p:cNvSpPr>
          <p:nvPr>
            <p:ph type="title"/>
          </p:nvPr>
        </p:nvSpPr>
        <p:spPr>
          <a:xfrm>
            <a:off x="839788" y="365125"/>
            <a:ext cx="10515600" cy="1325563"/>
          </a:xfrm>
        </p:spPr>
        <p:txBody>
          <a:bodyPr/>
          <a:lstStyle/>
          <a:p>
            <a:r>
              <a:rPr lang="en-US"/>
              <a:t>Click to edit Master title style</a:t>
            </a:r>
            <a:endParaRPr lang="en-SA"/>
          </a:p>
        </p:txBody>
      </p:sp>
      <p:sp>
        <p:nvSpPr>
          <p:cNvPr id="3" name="Text Placeholder 2">
            <a:extLst>
              <a:ext uri="{FF2B5EF4-FFF2-40B4-BE49-F238E27FC236}">
                <a16:creationId xmlns:a16="http://schemas.microsoft.com/office/drawing/2014/main" id="{A69041C8-8373-6255-586F-BC03B7F9F4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4A1ECA-4CCB-3F53-57A6-E4A9E609A3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5" name="Text Placeholder 4">
            <a:extLst>
              <a:ext uri="{FF2B5EF4-FFF2-40B4-BE49-F238E27FC236}">
                <a16:creationId xmlns:a16="http://schemas.microsoft.com/office/drawing/2014/main" id="{9B8F5615-FDA6-73B5-CDAC-E5AF17AB22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679274-DAB1-CA48-C118-506E7F5EF4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7" name="Date Placeholder 6">
            <a:extLst>
              <a:ext uri="{FF2B5EF4-FFF2-40B4-BE49-F238E27FC236}">
                <a16:creationId xmlns:a16="http://schemas.microsoft.com/office/drawing/2014/main" id="{54451830-3BAA-10C5-C2DF-957C0CF65CD1}"/>
              </a:ext>
            </a:extLst>
          </p:cNvPr>
          <p:cNvSpPr>
            <a:spLocks noGrp="1"/>
          </p:cNvSpPr>
          <p:nvPr>
            <p:ph type="dt" sz="half" idx="10"/>
          </p:nvPr>
        </p:nvSpPr>
        <p:spPr/>
        <p:txBody>
          <a:bodyPr/>
          <a:lstStyle/>
          <a:p>
            <a:fld id="{174F0CFF-6086-764F-9C61-F9B823A1F258}" type="datetimeFigureOut">
              <a:t>2 صفر، 1446</a:t>
            </a:fld>
            <a:endParaRPr lang="en-SA"/>
          </a:p>
        </p:txBody>
      </p:sp>
      <p:sp>
        <p:nvSpPr>
          <p:cNvPr id="8" name="Footer Placeholder 7">
            <a:extLst>
              <a:ext uri="{FF2B5EF4-FFF2-40B4-BE49-F238E27FC236}">
                <a16:creationId xmlns:a16="http://schemas.microsoft.com/office/drawing/2014/main" id="{F5E1BF20-8D99-DDD7-0880-037B4C6DCD67}"/>
              </a:ext>
            </a:extLst>
          </p:cNvPr>
          <p:cNvSpPr>
            <a:spLocks noGrp="1"/>
          </p:cNvSpPr>
          <p:nvPr>
            <p:ph type="ftr" sz="quarter" idx="11"/>
          </p:nvPr>
        </p:nvSpPr>
        <p:spPr/>
        <p:txBody>
          <a:bodyPr/>
          <a:lstStyle/>
          <a:p>
            <a:endParaRPr lang="en-SA"/>
          </a:p>
        </p:txBody>
      </p:sp>
      <p:sp>
        <p:nvSpPr>
          <p:cNvPr id="9" name="Slide Number Placeholder 8">
            <a:extLst>
              <a:ext uri="{FF2B5EF4-FFF2-40B4-BE49-F238E27FC236}">
                <a16:creationId xmlns:a16="http://schemas.microsoft.com/office/drawing/2014/main" id="{386863A1-FCB4-BA58-338A-EB5C30FEDFA7}"/>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1326079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F2F5F-8178-5D59-A26F-90ED46F10CED}"/>
              </a:ext>
            </a:extLst>
          </p:cNvPr>
          <p:cNvSpPr>
            <a:spLocks noGrp="1"/>
          </p:cNvSpPr>
          <p:nvPr>
            <p:ph type="title"/>
          </p:nvPr>
        </p:nvSpPr>
        <p:spPr/>
        <p:txBody>
          <a:bodyPr/>
          <a:lstStyle/>
          <a:p>
            <a:r>
              <a:rPr lang="en-US"/>
              <a:t>Click to edit Master title style</a:t>
            </a:r>
            <a:endParaRPr lang="en-SA"/>
          </a:p>
        </p:txBody>
      </p:sp>
      <p:sp>
        <p:nvSpPr>
          <p:cNvPr id="3" name="Date Placeholder 2">
            <a:extLst>
              <a:ext uri="{FF2B5EF4-FFF2-40B4-BE49-F238E27FC236}">
                <a16:creationId xmlns:a16="http://schemas.microsoft.com/office/drawing/2014/main" id="{F0064A1A-D109-1732-6873-D9A2B6410B96}"/>
              </a:ext>
            </a:extLst>
          </p:cNvPr>
          <p:cNvSpPr>
            <a:spLocks noGrp="1"/>
          </p:cNvSpPr>
          <p:nvPr>
            <p:ph type="dt" sz="half" idx="10"/>
          </p:nvPr>
        </p:nvSpPr>
        <p:spPr/>
        <p:txBody>
          <a:bodyPr/>
          <a:lstStyle/>
          <a:p>
            <a:fld id="{174F0CFF-6086-764F-9C61-F9B823A1F258}" type="datetimeFigureOut">
              <a:t>2 صفر، 1446</a:t>
            </a:fld>
            <a:endParaRPr lang="en-SA"/>
          </a:p>
        </p:txBody>
      </p:sp>
      <p:sp>
        <p:nvSpPr>
          <p:cNvPr id="4" name="Footer Placeholder 3">
            <a:extLst>
              <a:ext uri="{FF2B5EF4-FFF2-40B4-BE49-F238E27FC236}">
                <a16:creationId xmlns:a16="http://schemas.microsoft.com/office/drawing/2014/main" id="{F0CDC44B-7ABB-238D-0D42-3BF880263E7B}"/>
              </a:ext>
            </a:extLst>
          </p:cNvPr>
          <p:cNvSpPr>
            <a:spLocks noGrp="1"/>
          </p:cNvSpPr>
          <p:nvPr>
            <p:ph type="ftr" sz="quarter" idx="11"/>
          </p:nvPr>
        </p:nvSpPr>
        <p:spPr/>
        <p:txBody>
          <a:bodyPr/>
          <a:lstStyle/>
          <a:p>
            <a:endParaRPr lang="en-SA"/>
          </a:p>
        </p:txBody>
      </p:sp>
      <p:sp>
        <p:nvSpPr>
          <p:cNvPr id="5" name="Slide Number Placeholder 4">
            <a:extLst>
              <a:ext uri="{FF2B5EF4-FFF2-40B4-BE49-F238E27FC236}">
                <a16:creationId xmlns:a16="http://schemas.microsoft.com/office/drawing/2014/main" id="{0FA51AB7-292F-587C-DF1D-799E3649CDD6}"/>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684801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7ADC22-4F99-6E26-7480-FAAA6D2CBCEA}"/>
              </a:ext>
            </a:extLst>
          </p:cNvPr>
          <p:cNvSpPr>
            <a:spLocks noGrp="1"/>
          </p:cNvSpPr>
          <p:nvPr>
            <p:ph type="dt" sz="half" idx="10"/>
          </p:nvPr>
        </p:nvSpPr>
        <p:spPr/>
        <p:txBody>
          <a:bodyPr/>
          <a:lstStyle/>
          <a:p>
            <a:fld id="{174F0CFF-6086-764F-9C61-F9B823A1F258}" type="datetimeFigureOut">
              <a:t>2 صفر، 1446</a:t>
            </a:fld>
            <a:endParaRPr lang="en-SA"/>
          </a:p>
        </p:txBody>
      </p:sp>
      <p:sp>
        <p:nvSpPr>
          <p:cNvPr id="3" name="Footer Placeholder 2">
            <a:extLst>
              <a:ext uri="{FF2B5EF4-FFF2-40B4-BE49-F238E27FC236}">
                <a16:creationId xmlns:a16="http://schemas.microsoft.com/office/drawing/2014/main" id="{BDE03AA0-D880-4335-0275-87BCA05D3000}"/>
              </a:ext>
            </a:extLst>
          </p:cNvPr>
          <p:cNvSpPr>
            <a:spLocks noGrp="1"/>
          </p:cNvSpPr>
          <p:nvPr>
            <p:ph type="ftr" sz="quarter" idx="11"/>
          </p:nvPr>
        </p:nvSpPr>
        <p:spPr/>
        <p:txBody>
          <a:bodyPr/>
          <a:lstStyle/>
          <a:p>
            <a:endParaRPr lang="en-SA"/>
          </a:p>
        </p:txBody>
      </p:sp>
      <p:sp>
        <p:nvSpPr>
          <p:cNvPr id="4" name="Slide Number Placeholder 3">
            <a:extLst>
              <a:ext uri="{FF2B5EF4-FFF2-40B4-BE49-F238E27FC236}">
                <a16:creationId xmlns:a16="http://schemas.microsoft.com/office/drawing/2014/main" id="{6C93CF61-E922-20F3-DDE0-4AB16D0E1D85}"/>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1118970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8586-43D9-9A49-B283-31DF1E63B4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A"/>
          </a:p>
        </p:txBody>
      </p:sp>
      <p:sp>
        <p:nvSpPr>
          <p:cNvPr id="3" name="Content Placeholder 2">
            <a:extLst>
              <a:ext uri="{FF2B5EF4-FFF2-40B4-BE49-F238E27FC236}">
                <a16:creationId xmlns:a16="http://schemas.microsoft.com/office/drawing/2014/main" id="{F942C81F-0932-A903-7CF5-061D9C6766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Text Placeholder 3">
            <a:extLst>
              <a:ext uri="{FF2B5EF4-FFF2-40B4-BE49-F238E27FC236}">
                <a16:creationId xmlns:a16="http://schemas.microsoft.com/office/drawing/2014/main" id="{5E8D0390-C926-0910-F879-EBB9310E81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DDCA9A-ECA3-215A-1B52-3034FFC174D2}"/>
              </a:ext>
            </a:extLst>
          </p:cNvPr>
          <p:cNvSpPr>
            <a:spLocks noGrp="1"/>
          </p:cNvSpPr>
          <p:nvPr>
            <p:ph type="dt" sz="half" idx="10"/>
          </p:nvPr>
        </p:nvSpPr>
        <p:spPr/>
        <p:txBody>
          <a:bodyPr/>
          <a:lstStyle/>
          <a:p>
            <a:fld id="{174F0CFF-6086-764F-9C61-F9B823A1F258}" type="datetimeFigureOut">
              <a:t>2 صفر، 1446</a:t>
            </a:fld>
            <a:endParaRPr lang="en-SA"/>
          </a:p>
        </p:txBody>
      </p:sp>
      <p:sp>
        <p:nvSpPr>
          <p:cNvPr id="6" name="Footer Placeholder 5">
            <a:extLst>
              <a:ext uri="{FF2B5EF4-FFF2-40B4-BE49-F238E27FC236}">
                <a16:creationId xmlns:a16="http://schemas.microsoft.com/office/drawing/2014/main" id="{D6F14E28-DF31-2FFF-83EA-AF929F31E7B4}"/>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F6243F62-14C6-6C9A-8B05-C0EA77669500}"/>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1241143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A4891-2D26-853F-C910-8C19D4BB18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A"/>
          </a:p>
        </p:txBody>
      </p:sp>
      <p:sp>
        <p:nvSpPr>
          <p:cNvPr id="3" name="Picture Placeholder 2">
            <a:extLst>
              <a:ext uri="{FF2B5EF4-FFF2-40B4-BE49-F238E27FC236}">
                <a16:creationId xmlns:a16="http://schemas.microsoft.com/office/drawing/2014/main" id="{2FD354DF-37CE-423B-2453-11A40EFB27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A"/>
          </a:p>
        </p:txBody>
      </p:sp>
      <p:sp>
        <p:nvSpPr>
          <p:cNvPr id="4" name="Text Placeholder 3">
            <a:extLst>
              <a:ext uri="{FF2B5EF4-FFF2-40B4-BE49-F238E27FC236}">
                <a16:creationId xmlns:a16="http://schemas.microsoft.com/office/drawing/2014/main" id="{136ACC47-B411-7E0E-3D44-9D3269CEF5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3FF442-C3B4-4811-6DA6-1F9611D27F22}"/>
              </a:ext>
            </a:extLst>
          </p:cNvPr>
          <p:cNvSpPr>
            <a:spLocks noGrp="1"/>
          </p:cNvSpPr>
          <p:nvPr>
            <p:ph type="dt" sz="half" idx="10"/>
          </p:nvPr>
        </p:nvSpPr>
        <p:spPr/>
        <p:txBody>
          <a:bodyPr/>
          <a:lstStyle/>
          <a:p>
            <a:fld id="{174F0CFF-6086-764F-9C61-F9B823A1F258}" type="datetimeFigureOut">
              <a:t>2 صفر، 1446</a:t>
            </a:fld>
            <a:endParaRPr lang="en-SA"/>
          </a:p>
        </p:txBody>
      </p:sp>
      <p:sp>
        <p:nvSpPr>
          <p:cNvPr id="6" name="Footer Placeholder 5">
            <a:extLst>
              <a:ext uri="{FF2B5EF4-FFF2-40B4-BE49-F238E27FC236}">
                <a16:creationId xmlns:a16="http://schemas.microsoft.com/office/drawing/2014/main" id="{522F734D-2FE1-7621-AACE-4D1681EC036C}"/>
              </a:ext>
            </a:extLst>
          </p:cNvPr>
          <p:cNvSpPr>
            <a:spLocks noGrp="1"/>
          </p:cNvSpPr>
          <p:nvPr>
            <p:ph type="ftr" sz="quarter" idx="11"/>
          </p:nvPr>
        </p:nvSpPr>
        <p:spPr/>
        <p:txBody>
          <a:bodyPr/>
          <a:lstStyle/>
          <a:p>
            <a:endParaRPr lang="en-SA"/>
          </a:p>
        </p:txBody>
      </p:sp>
      <p:sp>
        <p:nvSpPr>
          <p:cNvPr id="7" name="Slide Number Placeholder 6">
            <a:extLst>
              <a:ext uri="{FF2B5EF4-FFF2-40B4-BE49-F238E27FC236}">
                <a16:creationId xmlns:a16="http://schemas.microsoft.com/office/drawing/2014/main" id="{19AD3DC4-7DF1-E2FF-4FD8-CCB032B37DDE}"/>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1524990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2B416-85EA-208A-C965-0B96B38EC592}"/>
              </a:ext>
            </a:extLst>
          </p:cNvPr>
          <p:cNvSpPr>
            <a:spLocks noGrp="1"/>
          </p:cNvSpPr>
          <p:nvPr>
            <p:ph type="title"/>
          </p:nvPr>
        </p:nvSpPr>
        <p:spPr/>
        <p:txBody>
          <a:bodyPr/>
          <a:lstStyle/>
          <a:p>
            <a:r>
              <a:rPr lang="en-US"/>
              <a:t>Click to edit Master title style</a:t>
            </a:r>
            <a:endParaRPr lang="en-SA"/>
          </a:p>
        </p:txBody>
      </p:sp>
      <p:sp>
        <p:nvSpPr>
          <p:cNvPr id="3" name="Vertical Text Placeholder 2">
            <a:extLst>
              <a:ext uri="{FF2B5EF4-FFF2-40B4-BE49-F238E27FC236}">
                <a16:creationId xmlns:a16="http://schemas.microsoft.com/office/drawing/2014/main" id="{69E25BE6-E3C6-BA82-3E74-170BE0C5D2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DF54DDDF-40C8-7CB6-E6ED-C5E3D503F405}"/>
              </a:ext>
            </a:extLst>
          </p:cNvPr>
          <p:cNvSpPr>
            <a:spLocks noGrp="1"/>
          </p:cNvSpPr>
          <p:nvPr>
            <p:ph type="dt" sz="half" idx="10"/>
          </p:nvPr>
        </p:nvSpPr>
        <p:spPr/>
        <p:txBody>
          <a:bodyPr/>
          <a:lstStyle/>
          <a:p>
            <a:fld id="{174F0CFF-6086-764F-9C61-F9B823A1F258}" type="datetimeFigureOut">
              <a:t>2 صفر، 1446</a:t>
            </a:fld>
            <a:endParaRPr lang="en-SA"/>
          </a:p>
        </p:txBody>
      </p:sp>
      <p:sp>
        <p:nvSpPr>
          <p:cNvPr id="5" name="Footer Placeholder 4">
            <a:extLst>
              <a:ext uri="{FF2B5EF4-FFF2-40B4-BE49-F238E27FC236}">
                <a16:creationId xmlns:a16="http://schemas.microsoft.com/office/drawing/2014/main" id="{1AECD314-A4AD-5B87-FF8B-58C763759C8C}"/>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19EE31D7-1785-A663-2552-332D5322F41F}"/>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397540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734A41-A8B7-F4BA-46B9-2803161EA7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A"/>
          </a:p>
        </p:txBody>
      </p:sp>
      <p:sp>
        <p:nvSpPr>
          <p:cNvPr id="3" name="Vertical Text Placeholder 2">
            <a:extLst>
              <a:ext uri="{FF2B5EF4-FFF2-40B4-BE49-F238E27FC236}">
                <a16:creationId xmlns:a16="http://schemas.microsoft.com/office/drawing/2014/main" id="{5CEB6EE0-4FD5-9238-FFD1-83C49CE7F1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7EFC5CCC-1ADF-B892-712C-FCE1334DCCDF}"/>
              </a:ext>
            </a:extLst>
          </p:cNvPr>
          <p:cNvSpPr>
            <a:spLocks noGrp="1"/>
          </p:cNvSpPr>
          <p:nvPr>
            <p:ph type="dt" sz="half" idx="10"/>
          </p:nvPr>
        </p:nvSpPr>
        <p:spPr/>
        <p:txBody>
          <a:bodyPr/>
          <a:lstStyle/>
          <a:p>
            <a:fld id="{174F0CFF-6086-764F-9C61-F9B823A1F258}" type="datetimeFigureOut">
              <a:t>2 صفر، 1446</a:t>
            </a:fld>
            <a:endParaRPr lang="en-SA"/>
          </a:p>
        </p:txBody>
      </p:sp>
      <p:sp>
        <p:nvSpPr>
          <p:cNvPr id="5" name="Footer Placeholder 4">
            <a:extLst>
              <a:ext uri="{FF2B5EF4-FFF2-40B4-BE49-F238E27FC236}">
                <a16:creationId xmlns:a16="http://schemas.microsoft.com/office/drawing/2014/main" id="{A0042D37-718F-C4FE-FB46-5D98372E8E98}"/>
              </a:ext>
            </a:extLst>
          </p:cNvPr>
          <p:cNvSpPr>
            <a:spLocks noGrp="1"/>
          </p:cNvSpPr>
          <p:nvPr>
            <p:ph type="ftr" sz="quarter" idx="11"/>
          </p:nvPr>
        </p:nvSpPr>
        <p:spPr/>
        <p:txBody>
          <a:bodyPr/>
          <a:lstStyle/>
          <a:p>
            <a:endParaRPr lang="en-SA"/>
          </a:p>
        </p:txBody>
      </p:sp>
      <p:sp>
        <p:nvSpPr>
          <p:cNvPr id="6" name="Slide Number Placeholder 5">
            <a:extLst>
              <a:ext uri="{FF2B5EF4-FFF2-40B4-BE49-F238E27FC236}">
                <a16:creationId xmlns:a16="http://schemas.microsoft.com/office/drawing/2014/main" id="{0B425E48-CDB0-548B-E652-D91A356C5665}"/>
              </a:ext>
            </a:extLst>
          </p:cNvPr>
          <p:cNvSpPr>
            <a:spLocks noGrp="1"/>
          </p:cNvSpPr>
          <p:nvPr>
            <p:ph type="sldNum" sz="quarter" idx="12"/>
          </p:nvPr>
        </p:nvSpPr>
        <p:spPr/>
        <p:txBody>
          <a:bodyPr/>
          <a:lstStyle/>
          <a:p>
            <a:fld id="{D3378E42-D6E3-444F-85E6-3255E3CB9488}" type="slidenum">
              <a:t>‹#›</a:t>
            </a:fld>
            <a:endParaRPr lang="en-SA"/>
          </a:p>
        </p:txBody>
      </p:sp>
    </p:spTree>
    <p:extLst>
      <p:ext uri="{BB962C8B-B14F-4D97-AF65-F5344CB8AC3E}">
        <p14:creationId xmlns:p14="http://schemas.microsoft.com/office/powerpoint/2010/main" val="4287650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94ED22-CBE2-0068-BB18-298B3AC0C0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A"/>
          </a:p>
        </p:txBody>
      </p:sp>
      <p:sp>
        <p:nvSpPr>
          <p:cNvPr id="3" name="Text Placeholder 2">
            <a:extLst>
              <a:ext uri="{FF2B5EF4-FFF2-40B4-BE49-F238E27FC236}">
                <a16:creationId xmlns:a16="http://schemas.microsoft.com/office/drawing/2014/main" id="{6FA0423A-FFA7-F665-EB3C-92C0D74DF1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F76F0484-82C2-9B3B-DF1E-6A65B04F3A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4F0CFF-6086-764F-9C61-F9B823A1F258}" type="datetimeFigureOut">
              <a:t>2 صفر، 1446</a:t>
            </a:fld>
            <a:endParaRPr lang="en-SA"/>
          </a:p>
        </p:txBody>
      </p:sp>
      <p:sp>
        <p:nvSpPr>
          <p:cNvPr id="5" name="Footer Placeholder 4">
            <a:extLst>
              <a:ext uri="{FF2B5EF4-FFF2-40B4-BE49-F238E27FC236}">
                <a16:creationId xmlns:a16="http://schemas.microsoft.com/office/drawing/2014/main" id="{DF01EBFC-7B66-FC67-DD8A-E4BF78A252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A"/>
          </a:p>
        </p:txBody>
      </p:sp>
      <p:sp>
        <p:nvSpPr>
          <p:cNvPr id="6" name="Slide Number Placeholder 5">
            <a:extLst>
              <a:ext uri="{FF2B5EF4-FFF2-40B4-BE49-F238E27FC236}">
                <a16:creationId xmlns:a16="http://schemas.microsoft.com/office/drawing/2014/main" id="{624E3D66-23DF-971C-1CD8-7832BE30A1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378E42-D6E3-444F-85E6-3255E3CB9488}" type="slidenum">
              <a:t>‹#›</a:t>
            </a:fld>
            <a:endParaRPr lang="en-SA"/>
          </a:p>
        </p:txBody>
      </p:sp>
    </p:spTree>
    <p:extLst>
      <p:ext uri="{BB962C8B-B14F-4D97-AF65-F5344CB8AC3E}">
        <p14:creationId xmlns:p14="http://schemas.microsoft.com/office/powerpoint/2010/main" val="28593487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DD2F0E-04C7-4206-F140-3A5A936B7B8F}"/>
              </a:ext>
            </a:extLst>
          </p:cNvPr>
          <p:cNvPicPr>
            <a:picLocks noChangeAspect="1"/>
          </p:cNvPicPr>
          <p:nvPr/>
        </p:nvPicPr>
        <p:blipFill rotWithShape="1">
          <a:blip r:embed="rId2"/>
          <a:srcRect t="7495" b="7495"/>
          <a:stretch/>
        </p:blipFill>
        <p:spPr>
          <a:xfrm>
            <a:off x="0" y="1"/>
            <a:ext cx="12192000" cy="6858000"/>
          </a:xfrm>
          <a:prstGeom prst="rect">
            <a:avLst/>
          </a:prstGeom>
        </p:spPr>
      </p:pic>
    </p:spTree>
    <p:extLst>
      <p:ext uri="{BB962C8B-B14F-4D97-AF65-F5344CB8AC3E}">
        <p14:creationId xmlns:p14="http://schemas.microsoft.com/office/powerpoint/2010/main" val="3790518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854567-AA4E-D6F1-5253-2A79EBE13671}"/>
              </a:ext>
            </a:extLst>
          </p:cNvPr>
          <p:cNvSpPr/>
          <p:nvPr/>
        </p:nvSpPr>
        <p:spPr>
          <a:xfrm>
            <a:off x="0" y="0"/>
            <a:ext cx="12192000" cy="6858000"/>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7" name="TextBox 6">
            <a:extLst>
              <a:ext uri="{FF2B5EF4-FFF2-40B4-BE49-F238E27FC236}">
                <a16:creationId xmlns:a16="http://schemas.microsoft.com/office/drawing/2014/main" id="{0E59E9C4-1EC1-BFDA-EE02-7428A8A90228}"/>
              </a:ext>
            </a:extLst>
          </p:cNvPr>
          <p:cNvSpPr txBox="1"/>
          <p:nvPr/>
        </p:nvSpPr>
        <p:spPr>
          <a:xfrm>
            <a:off x="1471411" y="2249791"/>
            <a:ext cx="9896155" cy="3662541"/>
          </a:xfrm>
          <a:prstGeom prst="rect">
            <a:avLst/>
          </a:prstGeom>
          <a:noFill/>
        </p:spPr>
        <p:txBody>
          <a:bodyPr wrap="square">
            <a:spAutoFit/>
          </a:bodyPr>
          <a:lstStyle/>
          <a:p>
            <a:pPr algn="r" rtl="1"/>
            <a:r>
              <a:rPr lang="en-SA" sz="3200">
                <a:solidFill>
                  <a:schemeClr val="bg1"/>
                </a:solidFill>
                <a:latin typeface="Omnes Arabic" pitchFamily="2" charset="-78"/>
                <a:cs typeface="Omnes Arabic" pitchFamily="2" charset="-78"/>
              </a:rPr>
              <a:t>يقول كارل هالر القائد العالمي لمركز IBM </a:t>
            </a:r>
            <a:r>
              <a:rPr lang="ar-SA" sz="3200" dirty="0">
                <a:solidFill>
                  <a:schemeClr val="bg1"/>
                </a:solidFill>
                <a:latin typeface="Omnes Arabic" pitchFamily="2" charset="-78"/>
                <a:cs typeface="Omnes Arabic" pitchFamily="2" charset="-78"/>
              </a:rPr>
              <a:t>ل</a:t>
            </a:r>
            <a:r>
              <a:rPr lang="en-SA" sz="3200">
                <a:solidFill>
                  <a:schemeClr val="bg1"/>
                </a:solidFill>
                <a:latin typeface="Omnes Arabic" pitchFamily="2" charset="-78"/>
                <a:cs typeface="Omnes Arabic" pitchFamily="2" charset="-78"/>
              </a:rPr>
              <a:t>حلول المستهلكين في استشارات : "المستهلكون اليوم رقمي</a:t>
            </a:r>
            <a:r>
              <a:rPr lang="ar-SA" sz="3200" dirty="0" err="1">
                <a:solidFill>
                  <a:schemeClr val="bg1"/>
                </a:solidFill>
                <a:latin typeface="Omnes Arabic" pitchFamily="2" charset="-78"/>
                <a:cs typeface="Omnes Arabic" pitchFamily="2" charset="-78"/>
              </a:rPr>
              <a:t>ون</a:t>
            </a:r>
            <a:r>
              <a:rPr lang="en-SA" sz="3200">
                <a:solidFill>
                  <a:schemeClr val="bg1"/>
                </a:solidFill>
                <a:latin typeface="Omnes Arabic" pitchFamily="2" charset="-78"/>
                <a:cs typeface="Omnes Arabic" pitchFamily="2" charset="-78"/>
              </a:rPr>
              <a:t> ومدفوعون </a:t>
            </a:r>
            <a:r>
              <a:rPr lang="ar-SA" sz="3200" dirty="0">
                <a:solidFill>
                  <a:schemeClr val="bg1"/>
                </a:solidFill>
                <a:latin typeface="Omnes Arabic" pitchFamily="2" charset="-78"/>
                <a:cs typeface="Omnes Arabic" pitchFamily="2" charset="-78"/>
              </a:rPr>
              <a:t>بالغايات</a:t>
            </a:r>
            <a:r>
              <a:rPr lang="en-SA" sz="3200">
                <a:solidFill>
                  <a:schemeClr val="bg1"/>
                </a:solidFill>
                <a:latin typeface="Omnes Arabic" pitchFamily="2" charset="-78"/>
                <a:cs typeface="Omnes Arabic" pitchFamily="2" charset="-78"/>
              </a:rPr>
              <a:t>. إنهم مطلعون ويركزون </a:t>
            </a:r>
            <a:r>
              <a:rPr lang="ar-SA" sz="3200" dirty="0">
                <a:solidFill>
                  <a:schemeClr val="bg1"/>
                </a:solidFill>
                <a:latin typeface="Omnes Arabic" pitchFamily="2" charset="-78"/>
                <a:cs typeface="Omnes Arabic" pitchFamily="2" charset="-78"/>
              </a:rPr>
              <a:t>في</a:t>
            </a:r>
            <a:r>
              <a:rPr lang="en-SA" sz="3200">
                <a:solidFill>
                  <a:schemeClr val="bg1"/>
                </a:solidFill>
                <a:latin typeface="Omnes Arabic" pitchFamily="2" charset="-78"/>
                <a:cs typeface="Omnes Arabic" pitchFamily="2" charset="-78"/>
              </a:rPr>
              <a:t> العثور على العلامات التجارية التي تتماشى مع قيمهم. إنهم يطالبون بالمزيد في جميع المجالات، وعل</a:t>
            </a:r>
            <a:r>
              <a:rPr lang="ar-SA" sz="3200" dirty="0" err="1">
                <a:solidFill>
                  <a:schemeClr val="bg1"/>
                </a:solidFill>
                <a:latin typeface="Omnes Arabic" pitchFamily="2" charset="-78"/>
                <a:cs typeface="Omnes Arabic" pitchFamily="2" charset="-78"/>
              </a:rPr>
              <a:t>ى</a:t>
            </a:r>
            <a:r>
              <a:rPr lang="en-SA" sz="3200">
                <a:solidFill>
                  <a:schemeClr val="bg1"/>
                </a:solidFill>
                <a:latin typeface="Omnes Arabic" pitchFamily="2" charset="-78"/>
                <a:cs typeface="Omnes Arabic" pitchFamily="2" charset="-78"/>
              </a:rPr>
              <a:t> الشركات أن ترفع مستوى توقعاتها لتلبية هذه المطالب". </a:t>
            </a:r>
            <a:endParaRPr lang="ar-SA" sz="3200" dirty="0">
              <a:solidFill>
                <a:schemeClr val="bg1"/>
              </a:solidFill>
              <a:latin typeface="Omnes Arabic" pitchFamily="2" charset="-78"/>
              <a:cs typeface="Omnes Arabic" pitchFamily="2" charset="-78"/>
            </a:endParaRPr>
          </a:p>
          <a:p>
            <a:pPr algn="r" rtl="1"/>
            <a:endParaRPr lang="ar-SA" dirty="0">
              <a:solidFill>
                <a:schemeClr val="bg1"/>
              </a:solidFill>
              <a:latin typeface="Omnes Arabic" pitchFamily="2" charset="-78"/>
              <a:cs typeface="Omnes Arabic" pitchFamily="2" charset="-78"/>
            </a:endParaRPr>
          </a:p>
          <a:p>
            <a:pPr algn="r" rtl="1"/>
            <a:r>
              <a:rPr lang="en-SA">
                <a:solidFill>
                  <a:schemeClr val="bg1"/>
                </a:solidFill>
                <a:latin typeface="Omnes Arabic" pitchFamily="2" charset="-78"/>
                <a:cs typeface="Omnes Arabic" pitchFamily="2" charset="-78"/>
              </a:rPr>
              <a:t>قاد هالر دراسة لشركة IBM أظهرت أن المستهلكين المدفوعين </a:t>
            </a:r>
            <a:r>
              <a:rPr lang="ar-SA" dirty="0">
                <a:solidFill>
                  <a:schemeClr val="bg1"/>
                </a:solidFill>
                <a:latin typeface="Omnes Arabic" pitchFamily="2" charset="-78"/>
                <a:cs typeface="Omnes Arabic" pitchFamily="2" charset="-78"/>
              </a:rPr>
              <a:t>بالغايات</a:t>
            </a:r>
            <a:r>
              <a:rPr lang="en-SA">
                <a:solidFill>
                  <a:schemeClr val="bg1"/>
                </a:solidFill>
                <a:latin typeface="Omnes Arabic" pitchFamily="2" charset="-78"/>
                <a:cs typeface="Omnes Arabic" pitchFamily="2" charset="-78"/>
              </a:rPr>
              <a:t> (وهم الذين يختارون العلامات التجارية والمنتجات بما يتماشى مع قيمهم الشخصية) يمثلون 44% من جميع المستهلكين، وه</a:t>
            </a:r>
            <a:r>
              <a:rPr lang="ar-SA" dirty="0" err="1">
                <a:solidFill>
                  <a:schemeClr val="bg1"/>
                </a:solidFill>
                <a:latin typeface="Omnes Arabic" pitchFamily="2" charset="-78"/>
                <a:cs typeface="Omnes Arabic" pitchFamily="2" charset="-78"/>
              </a:rPr>
              <a:t>ي</a:t>
            </a:r>
            <a:r>
              <a:rPr lang="en-SA">
                <a:solidFill>
                  <a:schemeClr val="bg1"/>
                </a:solidFill>
                <a:latin typeface="Omnes Arabic" pitchFamily="2" charset="-78"/>
                <a:cs typeface="Omnes Arabic" pitchFamily="2" charset="-78"/>
              </a:rPr>
              <a:t> أكبر شريحة</a:t>
            </a:r>
            <a:r>
              <a:rPr lang="ar-SA" dirty="0">
                <a:solidFill>
                  <a:schemeClr val="bg1"/>
                </a:solidFill>
                <a:latin typeface="Omnes Arabic" pitchFamily="2" charset="-78"/>
                <a:cs typeface="Omnes Arabic" pitchFamily="2" charset="-78"/>
              </a:rPr>
              <a:t> عملاء، شملت الدراسة أكثر من ٢٠،٠٠٠ مستهلكاً عالمياً و ١٠٠ علامة تجارية رائدة عالميًا</a:t>
            </a:r>
            <a:r>
              <a:rPr lang="en-SA">
                <a:solidFill>
                  <a:schemeClr val="bg1"/>
                </a:solidFill>
                <a:latin typeface="Omnes Arabic" pitchFamily="2" charset="-78"/>
                <a:cs typeface="Omnes Arabic" pitchFamily="2" charset="-78"/>
              </a:rPr>
              <a:t>.</a:t>
            </a:r>
          </a:p>
        </p:txBody>
      </p:sp>
      <p:sp>
        <p:nvSpPr>
          <p:cNvPr id="12" name="Rounded Rectangle 11">
            <a:extLst>
              <a:ext uri="{FF2B5EF4-FFF2-40B4-BE49-F238E27FC236}">
                <a16:creationId xmlns:a16="http://schemas.microsoft.com/office/drawing/2014/main" id="{05DA9AFB-9F7B-9556-8D2F-33A2DCF4DFD1}"/>
              </a:ext>
            </a:extLst>
          </p:cNvPr>
          <p:cNvSpPr/>
          <p:nvPr/>
        </p:nvSpPr>
        <p:spPr>
          <a:xfrm>
            <a:off x="11367566" y="1136466"/>
            <a:ext cx="180000" cy="180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3" name="Rounded Rectangle 12">
            <a:extLst>
              <a:ext uri="{FF2B5EF4-FFF2-40B4-BE49-F238E27FC236}">
                <a16:creationId xmlns:a16="http://schemas.microsoft.com/office/drawing/2014/main" id="{BB0977B4-3E07-57FB-D36E-CF004850005C}"/>
              </a:ext>
            </a:extLst>
          </p:cNvPr>
          <p:cNvSpPr/>
          <p:nvPr/>
        </p:nvSpPr>
        <p:spPr>
          <a:xfrm>
            <a:off x="1249680" y="1136466"/>
            <a:ext cx="5197881" cy="180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4" name="Rounded Rectangle 13">
            <a:extLst>
              <a:ext uri="{FF2B5EF4-FFF2-40B4-BE49-F238E27FC236}">
                <a16:creationId xmlns:a16="http://schemas.microsoft.com/office/drawing/2014/main" id="{8B416F2E-69EB-D79D-2E9D-120124A3E1AD}"/>
              </a:ext>
            </a:extLst>
          </p:cNvPr>
          <p:cNvSpPr/>
          <p:nvPr/>
        </p:nvSpPr>
        <p:spPr>
          <a:xfrm>
            <a:off x="7999960" y="1136466"/>
            <a:ext cx="2371949" cy="180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Tree>
    <p:extLst>
      <p:ext uri="{BB962C8B-B14F-4D97-AF65-F5344CB8AC3E}">
        <p14:creationId xmlns:p14="http://schemas.microsoft.com/office/powerpoint/2010/main" val="2517712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854567-AA4E-D6F1-5253-2A79EBE13671}"/>
              </a:ext>
            </a:extLst>
          </p:cNvPr>
          <p:cNvSpPr/>
          <p:nvPr/>
        </p:nvSpPr>
        <p:spPr>
          <a:xfrm>
            <a:off x="0" y="0"/>
            <a:ext cx="12192000" cy="6858000"/>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7" name="TextBox 6">
            <a:extLst>
              <a:ext uri="{FF2B5EF4-FFF2-40B4-BE49-F238E27FC236}">
                <a16:creationId xmlns:a16="http://schemas.microsoft.com/office/drawing/2014/main" id="{0E59E9C4-1EC1-BFDA-EE02-7428A8A90228}"/>
              </a:ext>
            </a:extLst>
          </p:cNvPr>
          <p:cNvSpPr txBox="1"/>
          <p:nvPr/>
        </p:nvSpPr>
        <p:spPr>
          <a:xfrm>
            <a:off x="1471411" y="2249791"/>
            <a:ext cx="9896155" cy="2062103"/>
          </a:xfrm>
          <a:prstGeom prst="rect">
            <a:avLst/>
          </a:prstGeom>
          <a:noFill/>
        </p:spPr>
        <p:txBody>
          <a:bodyPr wrap="square">
            <a:spAutoFit/>
          </a:bodyPr>
          <a:lstStyle/>
          <a:p>
            <a:pPr algn="r" rtl="1"/>
            <a:r>
              <a:rPr lang="ar-SA" sz="3200">
                <a:solidFill>
                  <a:schemeClr val="bg1"/>
                </a:solidFill>
                <a:latin typeface="Omnes Arabic" pitchFamily="2" charset="-78"/>
                <a:cs typeface="Omnes Arabic" pitchFamily="2" charset="-78"/>
              </a:rPr>
              <a:t>شهدت العلامات التجارية المدفوعة بالغايات بشكل أساسي ومتكامل نموًا بنسبة ١٧٥% على مدار ١٢ عامًا، وفقًا لدراسة "كانتر" حول الغايات في عام ٢٠٢٠ وفي المقابل لم تصل نسبة  نمو جميع العلامات التجارية الأخرى غير المدفوعة بالغايات إلى ٨٥٪ .</a:t>
            </a:r>
          </a:p>
        </p:txBody>
      </p:sp>
      <p:sp>
        <p:nvSpPr>
          <p:cNvPr id="12" name="Rounded Rectangle 11">
            <a:extLst>
              <a:ext uri="{FF2B5EF4-FFF2-40B4-BE49-F238E27FC236}">
                <a16:creationId xmlns:a16="http://schemas.microsoft.com/office/drawing/2014/main" id="{05DA9AFB-9F7B-9556-8D2F-33A2DCF4DFD1}"/>
              </a:ext>
            </a:extLst>
          </p:cNvPr>
          <p:cNvSpPr/>
          <p:nvPr/>
        </p:nvSpPr>
        <p:spPr>
          <a:xfrm>
            <a:off x="11367566" y="1136466"/>
            <a:ext cx="180000" cy="180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3" name="Rounded Rectangle 12">
            <a:extLst>
              <a:ext uri="{FF2B5EF4-FFF2-40B4-BE49-F238E27FC236}">
                <a16:creationId xmlns:a16="http://schemas.microsoft.com/office/drawing/2014/main" id="{BB0977B4-3E07-57FB-D36E-CF004850005C}"/>
              </a:ext>
            </a:extLst>
          </p:cNvPr>
          <p:cNvSpPr/>
          <p:nvPr/>
        </p:nvSpPr>
        <p:spPr>
          <a:xfrm>
            <a:off x="1249680" y="1136466"/>
            <a:ext cx="5197881" cy="180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4" name="Rounded Rectangle 13">
            <a:extLst>
              <a:ext uri="{FF2B5EF4-FFF2-40B4-BE49-F238E27FC236}">
                <a16:creationId xmlns:a16="http://schemas.microsoft.com/office/drawing/2014/main" id="{8B416F2E-69EB-D79D-2E9D-120124A3E1AD}"/>
              </a:ext>
            </a:extLst>
          </p:cNvPr>
          <p:cNvSpPr/>
          <p:nvPr/>
        </p:nvSpPr>
        <p:spPr>
          <a:xfrm>
            <a:off x="7999960" y="1136466"/>
            <a:ext cx="2371949" cy="180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Tree>
    <p:extLst>
      <p:ext uri="{BB962C8B-B14F-4D97-AF65-F5344CB8AC3E}">
        <p14:creationId xmlns:p14="http://schemas.microsoft.com/office/powerpoint/2010/main" val="2276838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854567-AA4E-D6F1-5253-2A79EBE13671}"/>
              </a:ext>
            </a:extLst>
          </p:cNvPr>
          <p:cNvSpPr/>
          <p:nvPr/>
        </p:nvSpPr>
        <p:spPr>
          <a:xfrm>
            <a:off x="0" y="0"/>
            <a:ext cx="12192000" cy="6858000"/>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Tree>
    <p:extLst>
      <p:ext uri="{BB962C8B-B14F-4D97-AF65-F5344CB8AC3E}">
        <p14:creationId xmlns:p14="http://schemas.microsoft.com/office/powerpoint/2010/main" val="2629344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1E8549A-778B-602B-A5A9-0C9169D61778}"/>
              </a:ext>
            </a:extLst>
          </p:cNvPr>
          <p:cNvSpPr/>
          <p:nvPr/>
        </p:nvSpPr>
        <p:spPr>
          <a:xfrm>
            <a:off x="0" y="0"/>
            <a:ext cx="12192000" cy="6858000"/>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 name="Rounded Rectangle 1">
            <a:extLst>
              <a:ext uri="{FF2B5EF4-FFF2-40B4-BE49-F238E27FC236}">
                <a16:creationId xmlns:a16="http://schemas.microsoft.com/office/drawing/2014/main" id="{8D1C53B3-75B5-144C-F238-35CF9624DD14}"/>
              </a:ext>
            </a:extLst>
          </p:cNvPr>
          <p:cNvSpPr/>
          <p:nvPr/>
        </p:nvSpPr>
        <p:spPr>
          <a:xfrm>
            <a:off x="9904233" y="3177000"/>
            <a:ext cx="504000" cy="504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4" name="TextBox 3">
            <a:extLst>
              <a:ext uri="{FF2B5EF4-FFF2-40B4-BE49-F238E27FC236}">
                <a16:creationId xmlns:a16="http://schemas.microsoft.com/office/drawing/2014/main" id="{C4622743-4E59-A530-6432-E16A4B4764A6}"/>
              </a:ext>
            </a:extLst>
          </p:cNvPr>
          <p:cNvSpPr txBox="1"/>
          <p:nvPr/>
        </p:nvSpPr>
        <p:spPr>
          <a:xfrm>
            <a:off x="534390" y="2921168"/>
            <a:ext cx="7876428" cy="1015663"/>
          </a:xfrm>
          <a:prstGeom prst="rect">
            <a:avLst/>
          </a:prstGeom>
          <a:noFill/>
        </p:spPr>
        <p:txBody>
          <a:bodyPr wrap="square">
            <a:spAutoFit/>
          </a:bodyPr>
          <a:lstStyle/>
          <a:p>
            <a:pPr marL="0" algn="r" defTabSz="914400" rtl="1" eaLnBrk="1" latinLnBrk="0" hangingPunct="1"/>
            <a:r>
              <a:rPr lang="ar-SA" sz="6000" b="1">
                <a:solidFill>
                  <a:schemeClr val="bg1"/>
                </a:solidFill>
                <a:effectLst/>
                <a:latin typeface="Omnes Arabic" pitchFamily="2" charset="-78"/>
                <a:cs typeface="Omnes Arabic" pitchFamily="2" charset="-78"/>
              </a:rPr>
              <a:t>كيف بدأ المحتوى أصلا ؟</a:t>
            </a:r>
            <a:endParaRPr lang="en-SA" sz="6000" b="1">
              <a:solidFill>
                <a:schemeClr val="bg1"/>
              </a:solidFill>
              <a:latin typeface="Omnes Arabic" pitchFamily="2" charset="-78"/>
              <a:cs typeface="Omnes Arabic" pitchFamily="2" charset="-78"/>
            </a:endParaRPr>
          </a:p>
        </p:txBody>
      </p:sp>
    </p:spTree>
    <p:extLst>
      <p:ext uri="{BB962C8B-B14F-4D97-AF65-F5344CB8AC3E}">
        <p14:creationId xmlns:p14="http://schemas.microsoft.com/office/powerpoint/2010/main" val="2343713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FAD345-56CC-F6EB-A2FB-32172009A747}"/>
              </a:ext>
            </a:extLst>
          </p:cNvPr>
          <p:cNvSpPr txBox="1"/>
          <p:nvPr/>
        </p:nvSpPr>
        <p:spPr>
          <a:xfrm>
            <a:off x="1163972" y="1322654"/>
            <a:ext cx="7969739" cy="4212692"/>
          </a:xfrm>
          <a:prstGeom prst="rect">
            <a:avLst/>
          </a:prstGeom>
          <a:noFill/>
        </p:spPr>
        <p:txBody>
          <a:bodyPr wrap="square">
            <a:spAutoFit/>
          </a:bodyPr>
          <a:lstStyle/>
          <a:p>
            <a:pPr algn="r" rtl="1">
              <a:lnSpc>
                <a:spcPct val="150000"/>
              </a:lnSpc>
            </a:pPr>
            <a:r>
              <a:rPr lang="ar-SA">
                <a:solidFill>
                  <a:srgbClr val="002F6F"/>
                </a:solidFill>
                <a:effectLst/>
                <a:highlight>
                  <a:srgbClr val="FFFFFF"/>
                </a:highlight>
                <a:latin typeface="Omnes Arabic" pitchFamily="2" charset="-78"/>
                <a:cs typeface="Omnes Arabic" pitchFamily="2" charset="-78"/>
              </a:rPr>
              <a:t>من لحظة ( وعلم آدم الأسماء كلها) </a:t>
            </a:r>
            <a:endParaRPr lang="en-US">
              <a:solidFill>
                <a:srgbClr val="002F6F"/>
              </a:solidFill>
              <a:effectLst/>
              <a:highlight>
                <a:srgbClr val="FFFFFF"/>
              </a:highlight>
              <a:latin typeface="Omnes Arabic" pitchFamily="2" charset="-78"/>
              <a:cs typeface="Omnes Arabic" pitchFamily="2" charset="-78"/>
            </a:endParaRPr>
          </a:p>
          <a:p>
            <a:pPr algn="r" rtl="1">
              <a:lnSpc>
                <a:spcPct val="150000"/>
              </a:lnSpc>
            </a:pPr>
            <a:r>
              <a:rPr lang="ar-SA">
                <a:solidFill>
                  <a:srgbClr val="002F6F"/>
                </a:solidFill>
                <a:effectLst/>
                <a:highlight>
                  <a:srgbClr val="FFFFFF"/>
                </a:highlight>
                <a:latin typeface="Omnes Arabic" pitchFamily="2" charset="-78"/>
                <a:cs typeface="Omnes Arabic" pitchFamily="2" charset="-78"/>
              </a:rPr>
              <a:t>الكثير من النقوش الصخرية المتخمة بالرموز</a:t>
            </a:r>
          </a:p>
          <a:p>
            <a:pPr algn="r" rtl="1">
              <a:lnSpc>
                <a:spcPct val="150000"/>
              </a:lnSpc>
            </a:pPr>
            <a:r>
              <a:rPr lang="ar-SA">
                <a:solidFill>
                  <a:srgbClr val="002F6F"/>
                </a:solidFill>
                <a:effectLst/>
                <a:highlight>
                  <a:srgbClr val="FFFFFF"/>
                </a:highlight>
                <a:latin typeface="Omnes Arabic" pitchFamily="2" charset="-78"/>
                <a:cs typeface="Omnes Arabic" pitchFamily="2" charset="-78"/>
              </a:rPr>
              <a:t>صحف الأنبياء المكرمون والألواح المنزلة والحكم التي تناقلها الناس كتابة ومشافهة</a:t>
            </a:r>
          </a:p>
          <a:p>
            <a:pPr algn="r" rtl="1">
              <a:lnSpc>
                <a:spcPct val="150000"/>
              </a:lnSpc>
            </a:pPr>
            <a:r>
              <a:rPr lang="ar-SA">
                <a:solidFill>
                  <a:srgbClr val="002F6F"/>
                </a:solidFill>
                <a:effectLst/>
                <a:highlight>
                  <a:srgbClr val="FFFFFF"/>
                </a:highlight>
                <a:latin typeface="Omnes Arabic" pitchFamily="2" charset="-78"/>
                <a:cs typeface="Omnes Arabic" pitchFamily="2" charset="-78"/>
              </a:rPr>
              <a:t>خطب الحكماء ، قس بن ساعدة مثلا (من عاش مات، ومن مات فات، وكل ما هو آت آت)</a:t>
            </a:r>
          </a:p>
          <a:p>
            <a:pPr algn="r" rtl="1">
              <a:lnSpc>
                <a:spcPct val="150000"/>
              </a:lnSpc>
            </a:pPr>
            <a:r>
              <a:rPr lang="ar-SA">
                <a:solidFill>
                  <a:srgbClr val="002F6F"/>
                </a:solidFill>
                <a:highlight>
                  <a:srgbClr val="FFFFFF"/>
                </a:highlight>
                <a:latin typeface="Omnes Arabic" pitchFamily="2" charset="-78"/>
                <a:cs typeface="Omnes Arabic" pitchFamily="2" charset="-78"/>
              </a:rPr>
              <a:t>شعراء الجاهلية والحفاوة التي تلقتها قصائدهم بالتعظيم حتى تعلقت مكتوبة بالذهب على الكعبة</a:t>
            </a:r>
          </a:p>
          <a:p>
            <a:pPr algn="r" rtl="1">
              <a:lnSpc>
                <a:spcPct val="150000"/>
              </a:lnSpc>
            </a:pPr>
            <a:r>
              <a:rPr lang="ar-SA">
                <a:solidFill>
                  <a:srgbClr val="002F6F"/>
                </a:solidFill>
                <a:highlight>
                  <a:srgbClr val="FFFFFF"/>
                </a:highlight>
                <a:latin typeface="Omnes Arabic" pitchFamily="2" charset="-78"/>
                <a:cs typeface="Omnes Arabic" pitchFamily="2" charset="-78"/>
              </a:rPr>
              <a:t>ثم جاء القرآن وهو اعظم محتوى فغير العالم </a:t>
            </a:r>
            <a:endParaRPr lang="en-US">
              <a:solidFill>
                <a:srgbClr val="002F6F"/>
              </a:solidFill>
              <a:highlight>
                <a:srgbClr val="FFFFFF"/>
              </a:highlight>
              <a:latin typeface="Omnes Arabic" pitchFamily="2" charset="-78"/>
              <a:cs typeface="Omnes Arabic" pitchFamily="2" charset="-78"/>
            </a:endParaRPr>
          </a:p>
          <a:p>
            <a:pPr algn="r" rtl="1">
              <a:lnSpc>
                <a:spcPct val="150000"/>
              </a:lnSpc>
            </a:pPr>
            <a:r>
              <a:rPr lang="ar-SA">
                <a:solidFill>
                  <a:srgbClr val="002F6F"/>
                </a:solidFill>
                <a:highlight>
                  <a:srgbClr val="FFFFFF"/>
                </a:highlight>
                <a:latin typeface="Omnes Arabic" pitchFamily="2" charset="-78"/>
                <a:cs typeface="Omnes Arabic" pitchFamily="2" charset="-78"/>
              </a:rPr>
              <a:t>ثورة الطباعة التي قلبت الموازين</a:t>
            </a:r>
          </a:p>
          <a:p>
            <a:pPr algn="r" rtl="1">
              <a:lnSpc>
                <a:spcPct val="150000"/>
              </a:lnSpc>
            </a:pPr>
            <a:r>
              <a:rPr lang="ar-SA">
                <a:solidFill>
                  <a:srgbClr val="002F6F"/>
                </a:solidFill>
                <a:highlight>
                  <a:srgbClr val="FFFFFF"/>
                </a:highlight>
                <a:latin typeface="Omnes Arabic" pitchFamily="2" charset="-78"/>
                <a:cs typeface="Omnes Arabic" pitchFamily="2" charset="-78"/>
              </a:rPr>
              <a:t>الصحافة والجرائد</a:t>
            </a:r>
          </a:p>
          <a:p>
            <a:pPr algn="r" rtl="1">
              <a:lnSpc>
                <a:spcPct val="150000"/>
              </a:lnSpc>
            </a:pPr>
            <a:r>
              <a:rPr lang="ar-SA">
                <a:solidFill>
                  <a:srgbClr val="002F6F"/>
                </a:solidFill>
                <a:highlight>
                  <a:srgbClr val="FFFFFF"/>
                </a:highlight>
                <a:latin typeface="Omnes Arabic" pitchFamily="2" charset="-78"/>
                <a:cs typeface="Omnes Arabic" pitchFamily="2" charset="-78"/>
              </a:rPr>
              <a:t>التلفزيون</a:t>
            </a:r>
          </a:p>
          <a:p>
            <a:pPr algn="r" rtl="1">
              <a:lnSpc>
                <a:spcPct val="150000"/>
              </a:lnSpc>
            </a:pPr>
            <a:r>
              <a:rPr lang="ar-SA">
                <a:solidFill>
                  <a:srgbClr val="002F6F"/>
                </a:solidFill>
                <a:highlight>
                  <a:srgbClr val="FFFFFF"/>
                </a:highlight>
                <a:latin typeface="Omnes Arabic" pitchFamily="2" charset="-78"/>
                <a:cs typeface="Omnes Arabic" pitchFamily="2" charset="-78"/>
              </a:rPr>
              <a:t>والعلوم التطبيقية التي طارت بالإنسان الى السماء والفضاء </a:t>
            </a:r>
          </a:p>
        </p:txBody>
      </p:sp>
      <p:grpSp>
        <p:nvGrpSpPr>
          <p:cNvPr id="12" name="Group 11">
            <a:extLst>
              <a:ext uri="{FF2B5EF4-FFF2-40B4-BE49-F238E27FC236}">
                <a16:creationId xmlns:a16="http://schemas.microsoft.com/office/drawing/2014/main" id="{3885A296-5AFB-5B35-3D39-7A0D3FC8956E}"/>
              </a:ext>
            </a:extLst>
          </p:cNvPr>
          <p:cNvGrpSpPr/>
          <p:nvPr/>
        </p:nvGrpSpPr>
        <p:grpSpPr>
          <a:xfrm>
            <a:off x="257622" y="6398259"/>
            <a:ext cx="11561642" cy="357984"/>
            <a:chOff x="257622" y="6398259"/>
            <a:chExt cx="11561642" cy="357984"/>
          </a:xfrm>
        </p:grpSpPr>
        <p:sp>
          <p:nvSpPr>
            <p:cNvPr id="7" name="Rounded Rectangle 6">
              <a:extLst>
                <a:ext uri="{FF2B5EF4-FFF2-40B4-BE49-F238E27FC236}">
                  <a16:creationId xmlns:a16="http://schemas.microsoft.com/office/drawing/2014/main" id="{CB54098E-A598-D2BC-1F90-AD7D00EF8E0B}"/>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8" name="Rounded Rectangle 7">
              <a:extLst>
                <a:ext uri="{FF2B5EF4-FFF2-40B4-BE49-F238E27FC236}">
                  <a16:creationId xmlns:a16="http://schemas.microsoft.com/office/drawing/2014/main" id="{4A88217E-8B74-7BBA-A31F-28AD2CB787CB}"/>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9" name="Rounded Rectangle 8">
              <a:extLst>
                <a:ext uri="{FF2B5EF4-FFF2-40B4-BE49-F238E27FC236}">
                  <a16:creationId xmlns:a16="http://schemas.microsoft.com/office/drawing/2014/main" id="{9AB169FC-350B-F4B4-E0A4-D89E3FF7A317}"/>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10" name="Picture 9">
              <a:extLst>
                <a:ext uri="{FF2B5EF4-FFF2-40B4-BE49-F238E27FC236}">
                  <a16:creationId xmlns:a16="http://schemas.microsoft.com/office/drawing/2014/main" id="{12859D1B-F5DF-DFD5-029B-8775EBF17470}"/>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11" name="Rounded Rectangle 10">
            <a:extLst>
              <a:ext uri="{FF2B5EF4-FFF2-40B4-BE49-F238E27FC236}">
                <a16:creationId xmlns:a16="http://schemas.microsoft.com/office/drawing/2014/main" id="{3D12423C-9F98-B139-6D2C-21DB2F1EF741}"/>
              </a:ext>
            </a:extLst>
          </p:cNvPr>
          <p:cNvSpPr/>
          <p:nvPr/>
        </p:nvSpPr>
        <p:spPr>
          <a:xfrm>
            <a:off x="9904233" y="3177000"/>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Tree>
    <p:extLst>
      <p:ext uri="{BB962C8B-B14F-4D97-AF65-F5344CB8AC3E}">
        <p14:creationId xmlns:p14="http://schemas.microsoft.com/office/powerpoint/2010/main" val="3162205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1E8549A-778B-602B-A5A9-0C9169D61778}"/>
              </a:ext>
            </a:extLst>
          </p:cNvPr>
          <p:cNvSpPr/>
          <p:nvPr/>
        </p:nvSpPr>
        <p:spPr>
          <a:xfrm>
            <a:off x="0" y="0"/>
            <a:ext cx="12192000" cy="6858000"/>
          </a:xfrm>
          <a:prstGeom prst="rect">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4" name="TextBox 3">
            <a:extLst>
              <a:ext uri="{FF2B5EF4-FFF2-40B4-BE49-F238E27FC236}">
                <a16:creationId xmlns:a16="http://schemas.microsoft.com/office/drawing/2014/main" id="{C4622743-4E59-A530-6432-E16A4B4764A6}"/>
              </a:ext>
            </a:extLst>
          </p:cNvPr>
          <p:cNvSpPr txBox="1"/>
          <p:nvPr/>
        </p:nvSpPr>
        <p:spPr>
          <a:xfrm>
            <a:off x="887879" y="2748044"/>
            <a:ext cx="10416242" cy="1361911"/>
          </a:xfrm>
          <a:prstGeom prst="rect">
            <a:avLst/>
          </a:prstGeom>
          <a:solidFill>
            <a:schemeClr val="bg1"/>
          </a:solidFill>
        </p:spPr>
        <p:txBody>
          <a:bodyPr wrap="square">
            <a:spAutoFit/>
          </a:bodyPr>
          <a:lstStyle/>
          <a:p>
            <a:pPr algn="ctr" rtl="1">
              <a:lnSpc>
                <a:spcPct val="150000"/>
              </a:lnSpc>
            </a:pPr>
            <a:r>
              <a:rPr lang="ar-SA" sz="6000">
                <a:solidFill>
                  <a:srgbClr val="002F6F"/>
                </a:solidFill>
                <a:highlight>
                  <a:srgbClr val="FFFFFF"/>
                </a:highlight>
                <a:latin typeface="Omnes Arabic" pitchFamily="2" charset="-78"/>
                <a:cs typeface="Omnes Arabic" pitchFamily="2" charset="-78"/>
              </a:rPr>
              <a:t>حتى جاء الإنترنت فحصل شيء غريب </a:t>
            </a:r>
            <a:endParaRPr lang="en-SA" sz="6000">
              <a:solidFill>
                <a:srgbClr val="002F6F"/>
              </a:solidFill>
              <a:latin typeface="Omnes Arabic" pitchFamily="2" charset="-78"/>
              <a:cs typeface="Omnes Arabic" pitchFamily="2" charset="-78"/>
            </a:endParaRPr>
          </a:p>
        </p:txBody>
      </p:sp>
    </p:spTree>
    <p:extLst>
      <p:ext uri="{BB962C8B-B14F-4D97-AF65-F5344CB8AC3E}">
        <p14:creationId xmlns:p14="http://schemas.microsoft.com/office/powerpoint/2010/main" val="3532845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33704B-7FE6-48F7-6FC3-06DC831B7637}"/>
              </a:ext>
            </a:extLst>
          </p:cNvPr>
          <p:cNvSpPr txBox="1"/>
          <p:nvPr/>
        </p:nvSpPr>
        <p:spPr>
          <a:xfrm>
            <a:off x="1698375" y="1295220"/>
            <a:ext cx="9855714" cy="1908215"/>
          </a:xfrm>
          <a:prstGeom prst="rect">
            <a:avLst/>
          </a:prstGeom>
          <a:noFill/>
        </p:spPr>
        <p:txBody>
          <a:bodyPr wrap="square">
            <a:spAutoFit/>
          </a:bodyPr>
          <a:lstStyle/>
          <a:p>
            <a:pPr algn="r" rtl="1">
              <a:lnSpc>
                <a:spcPct val="150000"/>
              </a:lnSpc>
            </a:pPr>
            <a:r>
              <a:rPr lang="ar-SA" sz="1600">
                <a:solidFill>
                  <a:srgbClr val="002F6F"/>
                </a:solidFill>
                <a:latin typeface="Omnes Arabic" pitchFamily="2" charset="-78"/>
                <a:cs typeface="Omnes Arabic" pitchFamily="2" charset="-78"/>
              </a:rPr>
              <a:t>تدور الفكرة الأساسية حول فصل الأنشطة الإنتاجية وجميع خدمات سلسلة القيمة في مجال المحتوى الى شركات مستقلة بحيث تركز كل شركة منها على نشاطها الأساسي وتكون ملزمة بالتعاون مع شركات المجموعة حتى ينمو الجميع معا :</a:t>
            </a:r>
          </a:p>
          <a:p>
            <a:pPr marL="342900" indent="-342900" algn="r" rtl="1">
              <a:lnSpc>
                <a:spcPct val="150000"/>
              </a:lnSpc>
              <a:buFont typeface="+mj-lt"/>
              <a:buAutoNum type="arabicPeriod"/>
            </a:pPr>
            <a:r>
              <a:rPr lang="ar-SA" sz="1600">
                <a:solidFill>
                  <a:srgbClr val="002F6F"/>
                </a:solidFill>
                <a:latin typeface="Omnes Arabic" pitchFamily="2" charset="-78"/>
                <a:cs typeface="Omnes Arabic" pitchFamily="2" charset="-78"/>
              </a:rPr>
              <a:t>العمل على فصل الخدمات الإنتاجية الى شركات مستقلة وفق خطة مرحلية وعلى معايير وساسيات النمو مع أهمية اعتماد آلية الشراكة بالملكية والارباح مع بطل يكون مسؤولا على النشاط المستقل</a:t>
            </a:r>
          </a:p>
          <a:p>
            <a:pPr marL="342900" indent="-342900" algn="r" rtl="1">
              <a:lnSpc>
                <a:spcPct val="150000"/>
              </a:lnSpc>
              <a:buFont typeface="+mj-lt"/>
              <a:buAutoNum type="arabicPeriod"/>
            </a:pPr>
            <a:r>
              <a:rPr lang="ar-SA" sz="1600">
                <a:solidFill>
                  <a:srgbClr val="002F6F"/>
                </a:solidFill>
                <a:latin typeface="Omnes Arabic" pitchFamily="2" charset="-78"/>
                <a:cs typeface="Omnes Arabic" pitchFamily="2" charset="-78"/>
              </a:rPr>
              <a:t>التوسع في خدمات المحتوى وفق سياسات النمو للوصول الى منظومة الخدمات الاتصالية الشاملة  </a:t>
            </a:r>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9" name="TextBox 8">
            <a:extLst>
              <a:ext uri="{FF2B5EF4-FFF2-40B4-BE49-F238E27FC236}">
                <a16:creationId xmlns:a16="http://schemas.microsoft.com/office/drawing/2014/main" id="{598D4223-7798-96BA-5721-C86EAA4E76A3}"/>
              </a:ext>
            </a:extLst>
          </p:cNvPr>
          <p:cNvSpPr txBox="1"/>
          <p:nvPr/>
        </p:nvSpPr>
        <p:spPr>
          <a:xfrm>
            <a:off x="6095999" y="385124"/>
            <a:ext cx="5458089" cy="473206"/>
          </a:xfrm>
          <a:prstGeom prst="rect">
            <a:avLst/>
          </a:prstGeom>
          <a:noFill/>
        </p:spPr>
        <p:txBody>
          <a:bodyPr wrap="square">
            <a:spAutoFit/>
          </a:bodyPr>
          <a:lstStyle/>
          <a:p>
            <a:pPr algn="r" rtl="1">
              <a:lnSpc>
                <a:spcPct val="150000"/>
              </a:lnSpc>
            </a:pPr>
            <a:r>
              <a:rPr lang="ar-SA" b="1">
                <a:solidFill>
                  <a:schemeClr val="bg1"/>
                </a:solidFill>
                <a:latin typeface="Omnes Arabic" pitchFamily="2" charset="-78"/>
                <a:cs typeface="Omnes Arabic" pitchFamily="2" charset="-78"/>
              </a:rPr>
              <a:t>على ماذا يدور جوهر مجموعة المحتوى الغائي القابضة ؟</a:t>
            </a:r>
            <a:endParaRPr lang="en-US" b="1">
              <a:solidFill>
                <a:schemeClr val="bg1"/>
              </a:solidFill>
              <a:latin typeface="Omnes Arabic" pitchFamily="2" charset="-78"/>
              <a:cs typeface="Omnes Arabic" pitchFamily="2" charset="-78"/>
            </a:endParaRPr>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2556490" y="395715"/>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Tree>
    <p:extLst>
      <p:ext uri="{BB962C8B-B14F-4D97-AF65-F5344CB8AC3E}">
        <p14:creationId xmlns:p14="http://schemas.microsoft.com/office/powerpoint/2010/main" val="91071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33704B-7FE6-48F7-6FC3-06DC831B7637}"/>
              </a:ext>
            </a:extLst>
          </p:cNvPr>
          <p:cNvSpPr txBox="1"/>
          <p:nvPr/>
        </p:nvSpPr>
        <p:spPr>
          <a:xfrm>
            <a:off x="1698375" y="1295220"/>
            <a:ext cx="9855714" cy="2135200"/>
          </a:xfrm>
          <a:prstGeom prst="rect">
            <a:avLst/>
          </a:prstGeom>
          <a:noFill/>
        </p:spPr>
        <p:txBody>
          <a:bodyPr wrap="square">
            <a:spAutoFit/>
          </a:bodyPr>
          <a:lstStyle/>
          <a:p>
            <a:pPr marL="342900" indent="-342900" algn="r" rtl="1">
              <a:lnSpc>
                <a:spcPct val="150000"/>
              </a:lnSpc>
              <a:buFont typeface="+mj-lt"/>
              <a:buAutoNum type="arabicPeriod"/>
            </a:pPr>
            <a:r>
              <a:rPr lang="ar-SA">
                <a:solidFill>
                  <a:srgbClr val="002F6F"/>
                </a:solidFill>
                <a:latin typeface="Omnes Arabic" pitchFamily="2" charset="-78"/>
                <a:cs typeface="Omnes Arabic" pitchFamily="2" charset="-78"/>
              </a:rPr>
              <a:t>هي وسيلة فعالة لضمان استمرار عمل المسؤول عن المسار فهو شريك ويعمل في حلاله فتقل احتمالية خروجه وبحثه عن فرص وظيفية أخرى </a:t>
            </a:r>
          </a:p>
          <a:p>
            <a:pPr marL="342900" indent="-342900" algn="r" rtl="1">
              <a:lnSpc>
                <a:spcPct val="150000"/>
              </a:lnSpc>
              <a:buFont typeface="+mj-lt"/>
              <a:buAutoNum type="arabicPeriod"/>
            </a:pPr>
            <a:r>
              <a:rPr lang="ar-SA">
                <a:solidFill>
                  <a:srgbClr val="002F6F"/>
                </a:solidFill>
                <a:latin typeface="Omnes Arabic" pitchFamily="2" charset="-78"/>
                <a:cs typeface="Omnes Arabic" pitchFamily="2" charset="-78"/>
              </a:rPr>
              <a:t>من المهم بمكان لنجاح النمو ان يقود كل مسار من مساراته بطل متمكن وهذه السياسة ستخفف من الهرمية المركزية وتوزع المسؤوليات وهذا التوسع في فصل الأنشطة يساهم في نمو الأنشطة جميعها معا بحيث يخدم كل نشاط النشاط الاخر ويتعاون الابطال لأن نجاح احدهم نجاح للجميع </a:t>
            </a:r>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9" name="TextBox 8">
            <a:extLst>
              <a:ext uri="{FF2B5EF4-FFF2-40B4-BE49-F238E27FC236}">
                <a16:creationId xmlns:a16="http://schemas.microsoft.com/office/drawing/2014/main" id="{598D4223-7798-96BA-5721-C86EAA4E76A3}"/>
              </a:ext>
            </a:extLst>
          </p:cNvPr>
          <p:cNvSpPr txBox="1"/>
          <p:nvPr/>
        </p:nvSpPr>
        <p:spPr>
          <a:xfrm>
            <a:off x="3612525" y="385124"/>
            <a:ext cx="7941564" cy="473206"/>
          </a:xfrm>
          <a:prstGeom prst="rect">
            <a:avLst/>
          </a:prstGeom>
          <a:noFill/>
        </p:spPr>
        <p:txBody>
          <a:bodyPr wrap="square">
            <a:spAutoFit/>
          </a:bodyPr>
          <a:lstStyle/>
          <a:p>
            <a:pPr algn="r" rtl="1">
              <a:lnSpc>
                <a:spcPct val="150000"/>
              </a:lnSpc>
            </a:pPr>
            <a:r>
              <a:rPr lang="ar-SA" b="1">
                <a:solidFill>
                  <a:schemeClr val="bg1"/>
                </a:solidFill>
                <a:latin typeface="Omnes Arabic" pitchFamily="2" charset="-78"/>
                <a:cs typeface="Omnes Arabic" pitchFamily="2" charset="-78"/>
              </a:rPr>
              <a:t>لماذا اجد آلية الشراكة مع البطل ضرورية لنجاح النمو وفرادته ؟</a:t>
            </a:r>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2556490" y="395715"/>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Tree>
    <p:extLst>
      <p:ext uri="{BB962C8B-B14F-4D97-AF65-F5344CB8AC3E}">
        <p14:creationId xmlns:p14="http://schemas.microsoft.com/office/powerpoint/2010/main" val="1457304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33704B-7FE6-48F7-6FC3-06DC831B7637}"/>
              </a:ext>
            </a:extLst>
          </p:cNvPr>
          <p:cNvSpPr txBox="1"/>
          <p:nvPr/>
        </p:nvSpPr>
        <p:spPr>
          <a:xfrm>
            <a:off x="2070323" y="1295220"/>
            <a:ext cx="9483766" cy="1304203"/>
          </a:xfrm>
          <a:prstGeom prst="rect">
            <a:avLst/>
          </a:prstGeom>
          <a:noFill/>
        </p:spPr>
        <p:txBody>
          <a:bodyPr wrap="square">
            <a:spAutoFit/>
          </a:bodyPr>
          <a:lstStyle/>
          <a:p>
            <a:pPr algn="r" rtl="1">
              <a:lnSpc>
                <a:spcPct val="150000"/>
              </a:lnSpc>
            </a:pPr>
            <a:r>
              <a:rPr lang="ar-SA">
                <a:solidFill>
                  <a:srgbClr val="002F6F"/>
                </a:solidFill>
                <a:latin typeface="Omnes Arabic" pitchFamily="2" charset="-78"/>
                <a:cs typeface="Omnes Arabic" pitchFamily="2" charset="-78"/>
              </a:rPr>
              <a:t>هي المجموعة القابضة التي تعمل على توفير الخدمات الاتصالية الشاملة </a:t>
            </a:r>
            <a:r>
              <a:rPr lang="en-US">
                <a:solidFill>
                  <a:srgbClr val="002F6F"/>
                </a:solidFill>
                <a:latin typeface="Omnes Arabic" pitchFamily="2" charset="-78"/>
                <a:cs typeface="Omnes Arabic" pitchFamily="2" charset="-78"/>
              </a:rPr>
              <a:t>end to end </a:t>
            </a:r>
            <a:r>
              <a:rPr lang="ar-SA">
                <a:solidFill>
                  <a:srgbClr val="002F6F"/>
                </a:solidFill>
                <a:latin typeface="Omnes Arabic" pitchFamily="2" charset="-78"/>
                <a:cs typeface="Omnes Arabic" pitchFamily="2" charset="-78"/>
              </a:rPr>
              <a:t> بطريقة فريدة ومبتكرة وبمنهجية مرنة وذكية تعتمد على النمو المرحلي وتجريب فصل الأنشطة في مسارات تجريبية بسياسات نمو وآلية معايرة تمكن من قياس التقدم ودفع النشاط للتوسع وخدمة الأنشطة الأخرى التابعة للمجموعة</a:t>
            </a:r>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9" name="TextBox 8">
            <a:extLst>
              <a:ext uri="{FF2B5EF4-FFF2-40B4-BE49-F238E27FC236}">
                <a16:creationId xmlns:a16="http://schemas.microsoft.com/office/drawing/2014/main" id="{598D4223-7798-96BA-5721-C86EAA4E76A3}"/>
              </a:ext>
            </a:extLst>
          </p:cNvPr>
          <p:cNvSpPr txBox="1"/>
          <p:nvPr/>
        </p:nvSpPr>
        <p:spPr>
          <a:xfrm>
            <a:off x="3612525" y="449076"/>
            <a:ext cx="7941564" cy="369332"/>
          </a:xfrm>
          <a:prstGeom prst="rect">
            <a:avLst/>
          </a:prstGeom>
          <a:noFill/>
        </p:spPr>
        <p:txBody>
          <a:bodyPr wrap="square">
            <a:spAutoFit/>
          </a:bodyPr>
          <a:lstStyle/>
          <a:p>
            <a:pPr algn="r" rtl="1"/>
            <a:r>
              <a:rPr lang="ar-SA" b="1" dirty="0">
                <a:solidFill>
                  <a:schemeClr val="bg1"/>
                </a:solidFill>
                <a:latin typeface="Omnes Arabic" pitchFamily="2" charset="-78"/>
                <a:cs typeface="Omnes Arabic" pitchFamily="2" charset="-78"/>
              </a:rPr>
              <a:t>ما هي مجموعة المحتوى الغائي ؟</a:t>
            </a:r>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2556490" y="395715"/>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Tree>
    <p:extLst>
      <p:ext uri="{BB962C8B-B14F-4D97-AF65-F5344CB8AC3E}">
        <p14:creationId xmlns:p14="http://schemas.microsoft.com/office/powerpoint/2010/main" val="442568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33704B-7FE6-48F7-6FC3-06DC831B7637}"/>
              </a:ext>
            </a:extLst>
          </p:cNvPr>
          <p:cNvSpPr txBox="1"/>
          <p:nvPr/>
        </p:nvSpPr>
        <p:spPr>
          <a:xfrm>
            <a:off x="2165533" y="1556477"/>
            <a:ext cx="9483766" cy="2550698"/>
          </a:xfrm>
          <a:prstGeom prst="rect">
            <a:avLst/>
          </a:prstGeom>
          <a:noFill/>
        </p:spPr>
        <p:txBody>
          <a:bodyPr wrap="square">
            <a:spAutoFit/>
          </a:bodyPr>
          <a:lstStyle/>
          <a:p>
            <a:pPr marL="342900" indent="-342900" algn="r" rtl="1">
              <a:lnSpc>
                <a:spcPct val="150000"/>
              </a:lnSpc>
              <a:buFont typeface="+mj-lt"/>
              <a:buAutoNum type="arabicPeriod"/>
            </a:pPr>
            <a:r>
              <a:rPr lang="ar-SA">
                <a:solidFill>
                  <a:srgbClr val="002F6F"/>
                </a:solidFill>
                <a:latin typeface="Omnes Arabic" pitchFamily="2" charset="-78"/>
                <a:cs typeface="Omnes Arabic" pitchFamily="2" charset="-78"/>
              </a:rPr>
              <a:t>ديناميكية السوق وجميع المؤشرات تؤكد ان هذا هو الوقت الذهبي للدخول القوي في عالم المحتوى وتوسيع الخدمات والذي يساعد في الاستحواذ على المزيد من العقود الكبيرة الشاملة </a:t>
            </a:r>
          </a:p>
          <a:p>
            <a:pPr marL="342900" indent="-342900" algn="r" rtl="1">
              <a:lnSpc>
                <a:spcPct val="150000"/>
              </a:lnSpc>
              <a:buFont typeface="+mj-lt"/>
              <a:buAutoNum type="arabicPeriod"/>
            </a:pPr>
            <a:r>
              <a:rPr lang="ar-SA">
                <a:solidFill>
                  <a:srgbClr val="002F6F"/>
                </a:solidFill>
                <a:latin typeface="Omnes Arabic" pitchFamily="2" charset="-78"/>
                <a:cs typeface="Omnes Arabic" pitchFamily="2" charset="-78"/>
              </a:rPr>
              <a:t>التأخر في البدء يعني دخول لاعبين جدد في السوق مما يجعل الفرصة تضيق اكثر مع مرور الوقت</a:t>
            </a:r>
          </a:p>
          <a:p>
            <a:pPr marL="342900" indent="-342900" algn="r" rtl="1">
              <a:lnSpc>
                <a:spcPct val="150000"/>
              </a:lnSpc>
              <a:buFont typeface="+mj-lt"/>
              <a:buAutoNum type="arabicPeriod"/>
            </a:pPr>
            <a:r>
              <a:rPr lang="ar-SA">
                <a:solidFill>
                  <a:srgbClr val="002F6F"/>
                </a:solidFill>
                <a:latin typeface="Omnes Arabic" pitchFamily="2" charset="-78"/>
                <a:cs typeface="Omnes Arabic" pitchFamily="2" charset="-78"/>
              </a:rPr>
              <a:t>قمرة اليوم مستعدة للمضي قدما وهي تملك مقومات هذا التحول على ان يتم بطريقة مرحلية تدريجية وبنموذج تجريبي يعتمد على البدء بأنشطة تحت الاختبار وتنفصل بشكل تدريجي الى شركات تابعة للمجموعة يرأس كل شركة شريك مؤسس ، يكون بطلا يقود نمو هذا النشاط </a:t>
            </a:r>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9" name="TextBox 8">
            <a:extLst>
              <a:ext uri="{FF2B5EF4-FFF2-40B4-BE49-F238E27FC236}">
                <a16:creationId xmlns:a16="http://schemas.microsoft.com/office/drawing/2014/main" id="{598D4223-7798-96BA-5721-C86EAA4E76A3}"/>
              </a:ext>
            </a:extLst>
          </p:cNvPr>
          <p:cNvSpPr txBox="1"/>
          <p:nvPr/>
        </p:nvSpPr>
        <p:spPr>
          <a:xfrm>
            <a:off x="3612525" y="449076"/>
            <a:ext cx="7941564" cy="369332"/>
          </a:xfrm>
          <a:prstGeom prst="rect">
            <a:avLst/>
          </a:prstGeom>
          <a:noFill/>
        </p:spPr>
        <p:txBody>
          <a:bodyPr wrap="square">
            <a:spAutoFit/>
          </a:bodyPr>
          <a:lstStyle/>
          <a:p>
            <a:pPr algn="r" rtl="1"/>
            <a:r>
              <a:rPr lang="ar-SA" b="1">
                <a:solidFill>
                  <a:schemeClr val="bg1"/>
                </a:solidFill>
                <a:latin typeface="Omnes Arabic" pitchFamily="2" charset="-78"/>
                <a:cs typeface="Omnes Arabic" pitchFamily="2" charset="-78"/>
              </a:rPr>
              <a:t>لماذا هي مهمة الآن ؟</a:t>
            </a:r>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2556490" y="395715"/>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Tree>
    <p:extLst>
      <p:ext uri="{BB962C8B-B14F-4D97-AF65-F5344CB8AC3E}">
        <p14:creationId xmlns:p14="http://schemas.microsoft.com/office/powerpoint/2010/main" val="1384005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9" name="TextBox 8">
            <a:extLst>
              <a:ext uri="{FF2B5EF4-FFF2-40B4-BE49-F238E27FC236}">
                <a16:creationId xmlns:a16="http://schemas.microsoft.com/office/drawing/2014/main" id="{598D4223-7798-96BA-5721-C86EAA4E76A3}"/>
              </a:ext>
            </a:extLst>
          </p:cNvPr>
          <p:cNvSpPr txBox="1"/>
          <p:nvPr/>
        </p:nvSpPr>
        <p:spPr>
          <a:xfrm>
            <a:off x="3612525" y="449076"/>
            <a:ext cx="7941564" cy="369332"/>
          </a:xfrm>
          <a:prstGeom prst="rect">
            <a:avLst/>
          </a:prstGeom>
          <a:noFill/>
        </p:spPr>
        <p:txBody>
          <a:bodyPr wrap="square">
            <a:spAutoFit/>
          </a:bodyPr>
          <a:lstStyle/>
          <a:p>
            <a:pPr algn="r" rtl="1"/>
            <a:r>
              <a:rPr lang="ar-SA" b="1">
                <a:solidFill>
                  <a:schemeClr val="bg1"/>
                </a:solidFill>
                <a:latin typeface="Omnes Arabic" pitchFamily="2" charset="-78"/>
                <a:cs typeface="Omnes Arabic" pitchFamily="2" charset="-78"/>
              </a:rPr>
              <a:t>المؤشرات الشائعة التي تقيس أثر المحتوى اليوم</a:t>
            </a:r>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2556490" y="395715"/>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12" name="TextBox 11">
            <a:extLst>
              <a:ext uri="{FF2B5EF4-FFF2-40B4-BE49-F238E27FC236}">
                <a16:creationId xmlns:a16="http://schemas.microsoft.com/office/drawing/2014/main" id="{BAED0020-4F98-4339-5EC7-56F27B9BBE34}"/>
              </a:ext>
            </a:extLst>
          </p:cNvPr>
          <p:cNvSpPr txBox="1"/>
          <p:nvPr/>
        </p:nvSpPr>
        <p:spPr>
          <a:xfrm>
            <a:off x="7966129" y="1674674"/>
            <a:ext cx="3691382" cy="1754326"/>
          </a:xfrm>
          <a:prstGeom prst="rect">
            <a:avLst/>
          </a:prstGeom>
          <a:noFill/>
        </p:spPr>
        <p:txBody>
          <a:bodyPr wrap="square">
            <a:spAutoFit/>
          </a:bodyPr>
          <a:lstStyle/>
          <a:p>
            <a:pPr algn="r" rtl="1"/>
            <a:r>
              <a:rPr lang="ar-SA">
                <a:solidFill>
                  <a:srgbClr val="002F6F"/>
                </a:solidFill>
                <a:effectLst/>
                <a:latin typeface="Omnes Arabic" pitchFamily="2" charset="-78"/>
                <a:cs typeface="Omnes Arabic" pitchFamily="2" charset="-78"/>
              </a:rPr>
              <a:t>تحليلات الويب </a:t>
            </a:r>
            <a:r>
              <a:rPr lang="en-US">
                <a:solidFill>
                  <a:srgbClr val="002F6F"/>
                </a:solidFill>
                <a:effectLst/>
                <a:latin typeface="Omnes Arabic" pitchFamily="2" charset="-78"/>
                <a:cs typeface="Omnes Arabic" pitchFamily="2" charset="-78"/>
              </a:rPr>
              <a:t>Web Analytics</a:t>
            </a:r>
            <a:br>
              <a:rPr lang="en-US">
                <a:solidFill>
                  <a:srgbClr val="002F6F"/>
                </a:solidFill>
                <a:effectLst/>
                <a:latin typeface="Omnes Arabic" pitchFamily="2" charset="-78"/>
                <a:cs typeface="Omnes Arabic" pitchFamily="2" charset="-78"/>
              </a:rPr>
            </a:br>
            <a:r>
              <a:rPr lang="ar-SA" u="none" strike="noStrike">
                <a:solidFill>
                  <a:srgbClr val="002F6F"/>
                </a:solidFill>
                <a:effectLst/>
                <a:latin typeface="Omnes Arabic" pitchFamily="2" charset="-78"/>
                <a:cs typeface="Omnes Arabic" pitchFamily="2" charset="-78"/>
              </a:rPr>
              <a:t>التفاعل مع المحتوى</a:t>
            </a:r>
          </a:p>
          <a:p>
            <a:pPr algn="r" rtl="1"/>
            <a:r>
              <a:rPr lang="ar-SA" u="none" strike="noStrike">
                <a:solidFill>
                  <a:srgbClr val="002F6F"/>
                </a:solidFill>
                <a:effectLst/>
                <a:latin typeface="Omnes Arabic" pitchFamily="2" charset="-78"/>
                <a:cs typeface="Omnes Arabic" pitchFamily="2" charset="-78"/>
              </a:rPr>
              <a:t>تحليلات</a:t>
            </a:r>
            <a:r>
              <a:rPr lang="ar-SA" u="none" strike="noStrike">
                <a:solidFill>
                  <a:srgbClr val="002F6F"/>
                </a:solidFill>
                <a:latin typeface="Omnes Arabic" pitchFamily="2" charset="-78"/>
                <a:cs typeface="Omnes Arabic" pitchFamily="2" charset="-78"/>
              </a:rPr>
              <a:t> </a:t>
            </a:r>
            <a:r>
              <a:rPr lang="en-US" u="none" strike="noStrike">
                <a:solidFill>
                  <a:srgbClr val="002F6F"/>
                </a:solidFill>
                <a:effectLst/>
                <a:latin typeface="Omnes Arabic" pitchFamily="2" charset="-78"/>
                <a:cs typeface="Omnes Arabic" pitchFamily="2" charset="-78"/>
              </a:rPr>
              <a:t>SEO</a:t>
            </a:r>
          </a:p>
          <a:p>
            <a:pPr algn="r" rtl="1"/>
            <a:r>
              <a:rPr lang="ar-SA" u="none" strike="noStrike">
                <a:solidFill>
                  <a:srgbClr val="002F6F"/>
                </a:solidFill>
                <a:effectLst/>
                <a:latin typeface="Omnes Arabic" pitchFamily="2" charset="-78"/>
                <a:cs typeface="Omnes Arabic" pitchFamily="2" charset="-78"/>
              </a:rPr>
              <a:t>معدلات التحويل</a:t>
            </a:r>
            <a:r>
              <a:rPr lang="ar-SA">
                <a:solidFill>
                  <a:srgbClr val="002F6F"/>
                </a:solidFill>
                <a:latin typeface="Omnes Arabic" pitchFamily="2" charset="-78"/>
                <a:cs typeface="Omnes Arabic" pitchFamily="2" charset="-78"/>
              </a:rPr>
              <a:t> </a:t>
            </a:r>
            <a:r>
              <a:rPr lang="en-US" u="none" strike="noStrike">
                <a:solidFill>
                  <a:srgbClr val="002F6F"/>
                </a:solidFill>
                <a:effectLst/>
                <a:latin typeface="Omnes Arabic" pitchFamily="2" charset="-78"/>
                <a:cs typeface="Omnes Arabic" pitchFamily="2" charset="-78"/>
              </a:rPr>
              <a:t>Conversion Rates</a:t>
            </a:r>
            <a:endParaRPr lang="ar-SA">
              <a:solidFill>
                <a:srgbClr val="002F6F"/>
              </a:solidFill>
              <a:latin typeface="Omnes Arabic" pitchFamily="2" charset="-78"/>
              <a:cs typeface="Omnes Arabic" pitchFamily="2" charset="-78"/>
            </a:endParaRPr>
          </a:p>
          <a:p>
            <a:pPr algn="r" rtl="1"/>
            <a:r>
              <a:rPr lang="ar-SA" u="none" strike="noStrike">
                <a:solidFill>
                  <a:srgbClr val="002F6F"/>
                </a:solidFill>
                <a:effectLst/>
                <a:latin typeface="Omnes Arabic" pitchFamily="2" charset="-78"/>
                <a:cs typeface="Omnes Arabic" pitchFamily="2" charset="-78"/>
              </a:rPr>
              <a:t> تحليل المشاع</a:t>
            </a:r>
            <a:r>
              <a:rPr lang="ar-SA">
                <a:solidFill>
                  <a:srgbClr val="002F6F"/>
                </a:solidFill>
                <a:latin typeface="Omnes Arabic" pitchFamily="2" charset="-78"/>
                <a:cs typeface="Omnes Arabic" pitchFamily="2" charset="-78"/>
              </a:rPr>
              <a:t>ر </a:t>
            </a:r>
            <a:r>
              <a:rPr lang="en-US" u="none" strike="noStrike">
                <a:solidFill>
                  <a:srgbClr val="002F6F"/>
                </a:solidFill>
                <a:effectLst/>
                <a:latin typeface="Omnes Arabic" pitchFamily="2" charset="-78"/>
                <a:cs typeface="Omnes Arabic" pitchFamily="2" charset="-78"/>
              </a:rPr>
              <a:t>Sentiment Analysis</a:t>
            </a:r>
          </a:p>
          <a:p>
            <a:pPr algn="r" rtl="1"/>
            <a:r>
              <a:rPr lang="ar-SA" u="none" strike="noStrike">
                <a:solidFill>
                  <a:srgbClr val="002F6F"/>
                </a:solidFill>
                <a:effectLst/>
                <a:latin typeface="Omnes Arabic" pitchFamily="2" charset="-78"/>
                <a:cs typeface="Omnes Arabic" pitchFamily="2" charset="-78"/>
              </a:rPr>
              <a:t>الأدوات التحليلية</a:t>
            </a:r>
          </a:p>
        </p:txBody>
      </p:sp>
      <p:sp>
        <p:nvSpPr>
          <p:cNvPr id="14" name="TextBox 13">
            <a:extLst>
              <a:ext uri="{FF2B5EF4-FFF2-40B4-BE49-F238E27FC236}">
                <a16:creationId xmlns:a16="http://schemas.microsoft.com/office/drawing/2014/main" id="{8D97EE22-6304-0278-07FE-2AA3154BE466}"/>
              </a:ext>
            </a:extLst>
          </p:cNvPr>
          <p:cNvSpPr txBox="1"/>
          <p:nvPr/>
        </p:nvSpPr>
        <p:spPr>
          <a:xfrm>
            <a:off x="2237533" y="4202666"/>
            <a:ext cx="9319311" cy="1477328"/>
          </a:xfrm>
          <a:prstGeom prst="rect">
            <a:avLst/>
          </a:prstGeom>
          <a:noFill/>
        </p:spPr>
        <p:txBody>
          <a:bodyPr wrap="square">
            <a:spAutoFit/>
          </a:bodyPr>
          <a:lstStyle/>
          <a:p>
            <a:pPr marL="342900" indent="-342900" algn="r" rtl="1">
              <a:buFont typeface="+mj-lt"/>
              <a:buAutoNum type="arabicPeriod"/>
            </a:pPr>
            <a:r>
              <a:rPr lang="ar-SA" strike="noStrike">
                <a:solidFill>
                  <a:srgbClr val="002F6F"/>
                </a:solidFill>
                <a:effectLst/>
                <a:latin typeface="Omnes Arabic" pitchFamily="2" charset="-78"/>
                <a:cs typeface="Omnes Arabic" pitchFamily="2" charset="-78"/>
              </a:rPr>
              <a:t>عدد الزوار </a:t>
            </a:r>
            <a:r>
              <a:rPr lang="en-US" strike="noStrike">
                <a:solidFill>
                  <a:srgbClr val="002F6F"/>
                </a:solidFill>
                <a:effectLst/>
                <a:latin typeface="Omnes Arabic" pitchFamily="2" charset="-78"/>
                <a:cs typeface="Omnes Arabic" pitchFamily="2" charset="-78"/>
              </a:rPr>
              <a:t>Traffic</a:t>
            </a:r>
            <a:r>
              <a:rPr lang="ar-SA" b="1" i="0" strike="noStrike">
                <a:solidFill>
                  <a:srgbClr val="002F6F"/>
                </a:solidFill>
                <a:effectLst/>
                <a:latin typeface="Omnes Arabic" pitchFamily="2" charset="-78"/>
                <a:cs typeface="Omnes Arabic" pitchFamily="2" charset="-78"/>
              </a:rPr>
              <a:t> </a:t>
            </a:r>
            <a:r>
              <a:rPr lang="ar-SA" sz="1400" u="none" strike="noStrike">
                <a:solidFill>
                  <a:srgbClr val="002F6F"/>
                </a:solidFill>
                <a:effectLst/>
                <a:latin typeface="Omnes Arabic Light" pitchFamily="2" charset="-78"/>
                <a:cs typeface="Omnes Arabic Light" pitchFamily="2" charset="-78"/>
              </a:rPr>
              <a:t>قياس عدد الزوار الذين يزورون موقعك الإلكتروني أو مدونتك.</a:t>
            </a:r>
          </a:p>
          <a:p>
            <a:pPr marL="342900" indent="-342900" algn="r" rtl="1">
              <a:buFont typeface="+mj-lt"/>
              <a:buAutoNum type="arabicPeriod"/>
            </a:pPr>
            <a:r>
              <a:rPr lang="ar-SA" u="none" strike="noStrike">
                <a:solidFill>
                  <a:srgbClr val="002F6F"/>
                </a:solidFill>
                <a:effectLst/>
                <a:latin typeface="Omnes Arabic" pitchFamily="2" charset="-78"/>
                <a:cs typeface="Omnes Arabic" pitchFamily="2" charset="-78"/>
              </a:rPr>
              <a:t>مدة الجلسة</a:t>
            </a:r>
            <a:r>
              <a:rPr lang="en-US" u="none" strike="noStrike">
                <a:solidFill>
                  <a:srgbClr val="002F6F"/>
                </a:solidFill>
                <a:effectLst/>
                <a:latin typeface="Omnes Arabic" pitchFamily="2" charset="-78"/>
                <a:cs typeface="Omnes Arabic" pitchFamily="2" charset="-78"/>
              </a:rPr>
              <a:t>Session Duration </a:t>
            </a:r>
            <a:r>
              <a:rPr lang="ar-SA" u="none" strike="noStrike">
                <a:solidFill>
                  <a:srgbClr val="002F6F"/>
                </a:solidFill>
                <a:effectLst/>
                <a:latin typeface="Omnes Arabic" pitchFamily="2" charset="-78"/>
                <a:cs typeface="Omnes Arabic" pitchFamily="2" charset="-78"/>
              </a:rPr>
              <a:t> </a:t>
            </a:r>
            <a:r>
              <a:rPr lang="ar-SA" sz="1400" u="none" strike="noStrike">
                <a:solidFill>
                  <a:srgbClr val="002F6F"/>
                </a:solidFill>
                <a:effectLst/>
                <a:latin typeface="Omnes Arabic Light" pitchFamily="2" charset="-78"/>
                <a:cs typeface="Omnes Arabic Light" pitchFamily="2" charset="-78"/>
              </a:rPr>
              <a:t>المدة التي يقضيها الزوار في تصفح محتواك.</a:t>
            </a:r>
          </a:p>
          <a:p>
            <a:pPr marL="342900" indent="-342900" algn="r" rtl="1">
              <a:buFont typeface="+mj-lt"/>
              <a:buAutoNum type="arabicPeriod"/>
            </a:pPr>
            <a:r>
              <a:rPr lang="ar-SA" u="none" strike="noStrike">
                <a:solidFill>
                  <a:srgbClr val="002F6F"/>
                </a:solidFill>
                <a:effectLst/>
                <a:latin typeface="Omnes Arabic" pitchFamily="2" charset="-78"/>
                <a:cs typeface="Omnes Arabic" pitchFamily="2" charset="-78"/>
              </a:rPr>
              <a:t>الصفحات المشاهدة </a:t>
            </a:r>
            <a:r>
              <a:rPr lang="en-US" u="none" strike="noStrike">
                <a:solidFill>
                  <a:srgbClr val="002F6F"/>
                </a:solidFill>
                <a:effectLst/>
                <a:latin typeface="Omnes Arabic" pitchFamily="2" charset="-78"/>
                <a:cs typeface="Omnes Arabic" pitchFamily="2" charset="-78"/>
              </a:rPr>
              <a:t>Page Views</a:t>
            </a:r>
            <a:r>
              <a:rPr lang="ar-SA" b="1" i="0" u="none" strike="noStrike">
                <a:solidFill>
                  <a:srgbClr val="002F6F"/>
                </a:solidFill>
                <a:effectLst/>
                <a:latin typeface="Omnes Arabic" pitchFamily="2" charset="-78"/>
                <a:cs typeface="Omnes Arabic" pitchFamily="2" charset="-78"/>
              </a:rPr>
              <a:t> </a:t>
            </a:r>
            <a:r>
              <a:rPr lang="ar-SA" sz="1400" u="none" strike="noStrike">
                <a:solidFill>
                  <a:srgbClr val="002F6F"/>
                </a:solidFill>
                <a:effectLst/>
                <a:latin typeface="Omnes Arabic Light" pitchFamily="2" charset="-78"/>
                <a:cs typeface="Omnes Arabic Light" pitchFamily="2" charset="-78"/>
              </a:rPr>
              <a:t>عدد الصفحات التي يُشاهدها الزوار خلال زيارتهم.</a:t>
            </a:r>
          </a:p>
          <a:p>
            <a:pPr marL="342900" indent="-342900" algn="r" rtl="1">
              <a:buFont typeface="+mj-lt"/>
              <a:buAutoNum type="arabicPeriod"/>
            </a:pPr>
            <a:r>
              <a:rPr lang="ar-SA" u="none" strike="noStrike">
                <a:solidFill>
                  <a:srgbClr val="002F6F"/>
                </a:solidFill>
                <a:effectLst/>
                <a:latin typeface="Omnes Arabic" pitchFamily="2" charset="-78"/>
                <a:cs typeface="Omnes Arabic" pitchFamily="2" charset="-78"/>
              </a:rPr>
              <a:t>معدل الارتداد </a:t>
            </a:r>
            <a:r>
              <a:rPr lang="en-US" u="none" strike="noStrike">
                <a:solidFill>
                  <a:srgbClr val="002F6F"/>
                </a:solidFill>
                <a:effectLst/>
                <a:latin typeface="Omnes Arabic" pitchFamily="2" charset="-78"/>
                <a:cs typeface="Omnes Arabic" pitchFamily="2" charset="-78"/>
              </a:rPr>
              <a:t>Bounce Rate</a:t>
            </a:r>
            <a:r>
              <a:rPr lang="ar-SA" u="none" strike="noStrike">
                <a:solidFill>
                  <a:srgbClr val="002F6F"/>
                </a:solidFill>
                <a:effectLst/>
                <a:latin typeface="Omnes Arabic" pitchFamily="2" charset="-78"/>
                <a:cs typeface="Omnes Arabic" pitchFamily="2" charset="-78"/>
              </a:rPr>
              <a:t> </a:t>
            </a:r>
            <a:r>
              <a:rPr lang="en-US" u="none" strike="noStrike">
                <a:solidFill>
                  <a:srgbClr val="002F6F"/>
                </a:solidFill>
                <a:effectLst/>
                <a:latin typeface="Omnes Arabic" pitchFamily="2" charset="-78"/>
                <a:cs typeface="Omnes Arabic" pitchFamily="2" charset="-78"/>
              </a:rPr>
              <a:t> </a:t>
            </a:r>
            <a:r>
              <a:rPr lang="ar-SA" sz="1400" u="none" strike="noStrike">
                <a:solidFill>
                  <a:srgbClr val="002F6F"/>
                </a:solidFill>
                <a:effectLst/>
                <a:latin typeface="Omnes Arabic Light" pitchFamily="2" charset="-78"/>
                <a:cs typeface="Omnes Arabic Light" pitchFamily="2" charset="-78"/>
              </a:rPr>
              <a:t>نسبة الزوار الذين يغادرون الموقع بعد مشاهدة صفحة واحدة فقط.</a:t>
            </a:r>
          </a:p>
          <a:p>
            <a:pPr marL="342900" indent="-342900" algn="r" rtl="1">
              <a:buFont typeface="+mj-lt"/>
              <a:buAutoNum type="arabicPeriod"/>
            </a:pPr>
            <a:r>
              <a:rPr lang="ar-SA" u="none" strike="noStrike">
                <a:solidFill>
                  <a:srgbClr val="002F6F"/>
                </a:solidFill>
                <a:effectLst/>
                <a:latin typeface="Omnes Arabic" pitchFamily="2" charset="-78"/>
                <a:cs typeface="Omnes Arabic" pitchFamily="2" charset="-78"/>
              </a:rPr>
              <a:t>الجدد * المتكررون  </a:t>
            </a:r>
            <a:r>
              <a:rPr lang="en-US" u="none" strike="noStrike">
                <a:solidFill>
                  <a:srgbClr val="002F6F"/>
                </a:solidFill>
                <a:effectLst/>
                <a:latin typeface="Omnes Arabic" pitchFamily="2" charset="-78"/>
                <a:cs typeface="Omnes Arabic" pitchFamily="2" charset="-78"/>
              </a:rPr>
              <a:t>New vs. Returning </a:t>
            </a:r>
            <a:r>
              <a:rPr lang="ar-SA" u="none" strike="noStrike">
                <a:solidFill>
                  <a:srgbClr val="002F6F"/>
                </a:solidFill>
                <a:effectLst/>
                <a:latin typeface="Omnes Arabic" pitchFamily="2" charset="-78"/>
                <a:cs typeface="Omnes Arabic" pitchFamily="2" charset="-78"/>
              </a:rPr>
              <a:t> </a:t>
            </a:r>
            <a:r>
              <a:rPr lang="ar-SA" sz="1400" u="none" strike="noStrike">
                <a:solidFill>
                  <a:srgbClr val="002F6F"/>
                </a:solidFill>
                <a:effectLst/>
                <a:latin typeface="Omnes Arabic Light" pitchFamily="2" charset="-78"/>
                <a:cs typeface="Omnes Arabic Light" pitchFamily="2" charset="-78"/>
              </a:rPr>
              <a:t>قياس عدد المستخدمين الجدد مقارنة بالمستخدمين الذين يعودون لزيارة موقعك.</a:t>
            </a:r>
            <a:endParaRPr lang="ar-SA" u="none" strike="noStrike">
              <a:solidFill>
                <a:srgbClr val="002F6F"/>
              </a:solidFill>
              <a:effectLst/>
              <a:latin typeface="Omnes Arabic Light" pitchFamily="2" charset="-78"/>
              <a:cs typeface="Omnes Arabic Light" pitchFamily="2" charset="-78"/>
            </a:endParaRPr>
          </a:p>
        </p:txBody>
      </p:sp>
    </p:spTree>
    <p:extLst>
      <p:ext uri="{BB962C8B-B14F-4D97-AF65-F5344CB8AC3E}">
        <p14:creationId xmlns:p14="http://schemas.microsoft.com/office/powerpoint/2010/main" val="1582956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مربع نص 16">
            <a:extLst>
              <a:ext uri="{FF2B5EF4-FFF2-40B4-BE49-F238E27FC236}">
                <a16:creationId xmlns:a16="http://schemas.microsoft.com/office/drawing/2014/main" id="{7AF4A9CF-908F-83C3-E8C1-49C1109F6376}"/>
              </a:ext>
            </a:extLst>
          </p:cNvPr>
          <p:cNvSpPr txBox="1"/>
          <p:nvPr/>
        </p:nvSpPr>
        <p:spPr>
          <a:xfrm>
            <a:off x="5355758" y="4372923"/>
            <a:ext cx="2387888" cy="1615827"/>
          </a:xfrm>
          <a:prstGeom prst="rect">
            <a:avLst/>
          </a:prstGeom>
          <a:noFill/>
        </p:spPr>
        <p:txBody>
          <a:bodyPr wrap="square">
            <a:spAutoFit/>
          </a:bodyPr>
          <a:lstStyle/>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انشاء مشاريع مستقلة</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توسيع المنتجات </a:t>
            </a:r>
          </a:p>
          <a:p>
            <a:pPr marL="285750" indent="-285750" algn="r" defTabSz="914400" rtl="1" eaLnBrk="1" latinLnBrk="0" hangingPunct="1">
              <a:buFontTx/>
              <a:buChar char="-"/>
            </a:pPr>
            <a:r>
              <a:rPr lang="ar-SA" dirty="0" err="1">
                <a:solidFill>
                  <a:srgbClr val="000000"/>
                </a:solidFill>
                <a:latin typeface="29LT Azer Extra Light" pitchFamily="2" charset="-78"/>
                <a:cs typeface="29LT Azer Extra Light" pitchFamily="2" charset="-78"/>
              </a:rPr>
              <a:t>الرعيات</a:t>
            </a:r>
            <a:r>
              <a:rPr lang="ar-SA" dirty="0">
                <a:solidFill>
                  <a:srgbClr val="000000"/>
                </a:solidFill>
                <a:latin typeface="29LT Azer Extra Light" pitchFamily="2" charset="-78"/>
                <a:cs typeface="29LT Azer Extra Light" pitchFamily="2" charset="-78"/>
              </a:rPr>
              <a:t> الخاصة</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الابتكار </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الاستشارات </a:t>
            </a:r>
          </a:p>
          <a:p>
            <a:pPr marL="285750" indent="-285750" algn="r" defTabSz="914400" rtl="1" eaLnBrk="1" latinLnBrk="0" hangingPunct="1">
              <a:buFontTx/>
              <a:buChar char="-"/>
            </a:pPr>
            <a:endParaRPr lang="ar-SA" sz="9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endParaRPr>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9" name="TextBox 8">
            <a:extLst>
              <a:ext uri="{FF2B5EF4-FFF2-40B4-BE49-F238E27FC236}">
                <a16:creationId xmlns:a16="http://schemas.microsoft.com/office/drawing/2014/main" id="{598D4223-7798-96BA-5721-C86EAA4E76A3}"/>
              </a:ext>
            </a:extLst>
          </p:cNvPr>
          <p:cNvSpPr txBox="1"/>
          <p:nvPr/>
        </p:nvSpPr>
        <p:spPr>
          <a:xfrm>
            <a:off x="3612525" y="449076"/>
            <a:ext cx="7941564" cy="369332"/>
          </a:xfrm>
          <a:prstGeom prst="rect">
            <a:avLst/>
          </a:prstGeom>
          <a:noFill/>
        </p:spPr>
        <p:txBody>
          <a:bodyPr wrap="square">
            <a:spAutoFit/>
          </a:bodyPr>
          <a:lstStyle/>
          <a:p>
            <a:pPr algn="r" rtl="1"/>
            <a:r>
              <a:rPr lang="ar-SA" b="1" dirty="0">
                <a:solidFill>
                  <a:schemeClr val="bg1"/>
                </a:solidFill>
                <a:latin typeface="Omnes Arabic" pitchFamily="2" charset="-78"/>
                <a:cs typeface="Omnes Arabic" pitchFamily="2" charset="-78"/>
              </a:rPr>
              <a:t>الفكرة</a:t>
            </a:r>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4604480" y="973316"/>
            <a:ext cx="777269" cy="751484"/>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5" name="مربع نص 4">
            <a:extLst>
              <a:ext uri="{FF2B5EF4-FFF2-40B4-BE49-F238E27FC236}">
                <a16:creationId xmlns:a16="http://schemas.microsoft.com/office/drawing/2014/main" id="{D5E91E37-EC98-0292-6244-0FBF5E7466E9}"/>
              </a:ext>
            </a:extLst>
          </p:cNvPr>
          <p:cNvSpPr txBox="1"/>
          <p:nvPr/>
        </p:nvSpPr>
        <p:spPr>
          <a:xfrm>
            <a:off x="-1306063" y="1422353"/>
            <a:ext cx="6096000" cy="369332"/>
          </a:xfrm>
          <a:prstGeom prst="rect">
            <a:avLst/>
          </a:prstGeom>
          <a:noFill/>
        </p:spPr>
        <p:txBody>
          <a:bodyPr wrap="square">
            <a:spAutoFit/>
          </a:bodyPr>
          <a:lstStyle/>
          <a:p>
            <a:pPr marL="0" algn="r" defTabSz="914400" rtl="1" eaLnBrk="1" latinLnBrk="0" hangingPunct="1"/>
            <a:r>
              <a:rPr lang="ar-SA"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مجموعة غائي</a:t>
            </a:r>
          </a:p>
        </p:txBody>
      </p:sp>
      <p:sp>
        <p:nvSpPr>
          <p:cNvPr id="6" name="Rounded Rectangle 15">
            <a:extLst>
              <a:ext uri="{FF2B5EF4-FFF2-40B4-BE49-F238E27FC236}">
                <a16:creationId xmlns:a16="http://schemas.microsoft.com/office/drawing/2014/main" id="{2A9A666F-149C-CCF3-9F32-9AE27C22D57F}"/>
              </a:ext>
            </a:extLst>
          </p:cNvPr>
          <p:cNvSpPr/>
          <p:nvPr/>
        </p:nvSpPr>
        <p:spPr>
          <a:xfrm>
            <a:off x="4609074" y="3211722"/>
            <a:ext cx="731784"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8" name="Rounded Rectangle 15">
            <a:extLst>
              <a:ext uri="{FF2B5EF4-FFF2-40B4-BE49-F238E27FC236}">
                <a16:creationId xmlns:a16="http://schemas.microsoft.com/office/drawing/2014/main" id="{F8D0CF0A-55AF-1354-97EB-10EE57E6DC24}"/>
              </a:ext>
            </a:extLst>
          </p:cNvPr>
          <p:cNvSpPr/>
          <p:nvPr/>
        </p:nvSpPr>
        <p:spPr>
          <a:xfrm>
            <a:off x="6987203" y="3194434"/>
            <a:ext cx="731784" cy="751484"/>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0" name="مربع نص 9">
            <a:extLst>
              <a:ext uri="{FF2B5EF4-FFF2-40B4-BE49-F238E27FC236}">
                <a16:creationId xmlns:a16="http://schemas.microsoft.com/office/drawing/2014/main" id="{440AB3DB-E3C8-83D4-0F17-06FB611C084D}"/>
              </a:ext>
            </a:extLst>
          </p:cNvPr>
          <p:cNvSpPr txBox="1"/>
          <p:nvPr/>
        </p:nvSpPr>
        <p:spPr>
          <a:xfrm>
            <a:off x="-1349717" y="3924186"/>
            <a:ext cx="6096000" cy="369332"/>
          </a:xfrm>
          <a:prstGeom prst="rect">
            <a:avLst/>
          </a:prstGeom>
          <a:noFill/>
        </p:spPr>
        <p:txBody>
          <a:bodyPr wrap="square">
            <a:spAutoFit/>
          </a:bodyPr>
          <a:lstStyle/>
          <a:p>
            <a:pPr marL="0" algn="r" defTabSz="914400" rtl="1" eaLnBrk="1" latinLnBrk="0" hangingPunct="1"/>
            <a:r>
              <a:rPr lang="ar-SA" b="1" dirty="0">
                <a:solidFill>
                  <a:schemeClr val="accent1">
                    <a:lumMod val="50000"/>
                  </a:schemeClr>
                </a:solidFill>
                <a:latin typeface="Omnes Arabic" pitchFamily="2" charset="-78"/>
                <a:cs typeface="Omnes Arabic" pitchFamily="2" charset="-78"/>
              </a:rPr>
              <a:t>المحتوى الغائي </a:t>
            </a:r>
            <a:endParaRPr lang="ar-SA" dirty="0">
              <a:solidFill>
                <a:schemeClr val="accent1">
                  <a:lumMod val="50000"/>
                </a:schemeClr>
              </a:solidFill>
            </a:endParaRPr>
          </a:p>
        </p:txBody>
      </p:sp>
      <p:sp>
        <p:nvSpPr>
          <p:cNvPr id="11" name="مربع نص 10">
            <a:extLst>
              <a:ext uri="{FF2B5EF4-FFF2-40B4-BE49-F238E27FC236}">
                <a16:creationId xmlns:a16="http://schemas.microsoft.com/office/drawing/2014/main" id="{5F20C991-0555-4CBB-5AF9-540DDD80E0A4}"/>
              </a:ext>
            </a:extLst>
          </p:cNvPr>
          <p:cNvSpPr txBox="1"/>
          <p:nvPr/>
        </p:nvSpPr>
        <p:spPr>
          <a:xfrm>
            <a:off x="1556480" y="4008378"/>
            <a:ext cx="6096000" cy="369332"/>
          </a:xfrm>
          <a:prstGeom prst="rect">
            <a:avLst/>
          </a:prstGeom>
        </p:spPr>
        <p:txBody>
          <a:bodyPr wrap="square">
            <a:spAutoFit/>
          </a:bodyPr>
          <a:lstStyle/>
          <a:p>
            <a:pPr marL="0" algn="r" defTabSz="914400" rtl="1" eaLnBrk="1" latinLnBrk="0" hangingPunct="1"/>
            <a:r>
              <a:rPr lang="ar-SA"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الخدمات الغائية</a:t>
            </a:r>
          </a:p>
        </p:txBody>
      </p:sp>
      <p:sp>
        <p:nvSpPr>
          <p:cNvPr id="13" name="مربع نص 12">
            <a:extLst>
              <a:ext uri="{FF2B5EF4-FFF2-40B4-BE49-F238E27FC236}">
                <a16:creationId xmlns:a16="http://schemas.microsoft.com/office/drawing/2014/main" id="{D93E8567-2F7D-CF8E-0EEE-384CB6E10B73}"/>
              </a:ext>
            </a:extLst>
          </p:cNvPr>
          <p:cNvSpPr txBox="1"/>
          <p:nvPr/>
        </p:nvSpPr>
        <p:spPr>
          <a:xfrm>
            <a:off x="2395399" y="1830418"/>
            <a:ext cx="2160256" cy="1615827"/>
          </a:xfrm>
          <a:prstGeom prst="rect">
            <a:avLst/>
          </a:prstGeom>
          <a:noFill/>
        </p:spPr>
        <p:txBody>
          <a:bodyPr wrap="square">
            <a:spAutoFit/>
          </a:bodyPr>
          <a:lstStyle/>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الاشراف العام </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الخطط </a:t>
            </a:r>
            <a:r>
              <a:rPr lang="ar-SA" dirty="0" err="1">
                <a:solidFill>
                  <a:srgbClr val="000000"/>
                </a:solidFill>
                <a:latin typeface="29LT Azer Extra Light" pitchFamily="2" charset="-78"/>
                <a:cs typeface="29LT Azer Extra Light" pitchFamily="2" charset="-78"/>
              </a:rPr>
              <a:t>الاستراتجية</a:t>
            </a:r>
            <a:r>
              <a:rPr lang="ar-SA" dirty="0">
                <a:solidFill>
                  <a:srgbClr val="000000"/>
                </a:solidFill>
                <a:latin typeface="29LT Azer Extra Light" pitchFamily="2" charset="-78"/>
                <a:cs typeface="29LT Azer Extra Light" pitchFamily="2" charset="-78"/>
              </a:rPr>
              <a:t> </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المالية </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الاستثمار </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التوسع </a:t>
            </a:r>
          </a:p>
          <a:p>
            <a:pPr marL="285750" indent="-285750" algn="r" defTabSz="914400" rtl="1" eaLnBrk="1" latinLnBrk="0" hangingPunct="1">
              <a:buFontTx/>
              <a:buChar char="-"/>
            </a:pPr>
            <a:endParaRPr lang="ar-SA" sz="9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endParaRPr>
          </a:p>
        </p:txBody>
      </p:sp>
      <p:sp>
        <p:nvSpPr>
          <p:cNvPr id="14" name="مربع نص 13">
            <a:extLst>
              <a:ext uri="{FF2B5EF4-FFF2-40B4-BE49-F238E27FC236}">
                <a16:creationId xmlns:a16="http://schemas.microsoft.com/office/drawing/2014/main" id="{99BB6005-B451-FBF1-EBB5-724C198CFC61}"/>
              </a:ext>
            </a:extLst>
          </p:cNvPr>
          <p:cNvSpPr txBox="1"/>
          <p:nvPr/>
        </p:nvSpPr>
        <p:spPr>
          <a:xfrm>
            <a:off x="-882467" y="4338690"/>
            <a:ext cx="6096000" cy="2169825"/>
          </a:xfrm>
          <a:prstGeom prst="rect">
            <a:avLst/>
          </a:prstGeom>
          <a:noFill/>
        </p:spPr>
        <p:txBody>
          <a:bodyPr wrap="square">
            <a:spAutoFit/>
          </a:bodyPr>
          <a:lstStyle/>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صناعة المحتوى </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تطوير المنتجات </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رفع القيمة السوقية</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زيادة قاعدة الجمهور </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الرعايا </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الابتكار </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دراسة السوق </a:t>
            </a:r>
          </a:p>
          <a:p>
            <a:pPr marL="285750" indent="-285750" algn="r" defTabSz="914400" rtl="1" eaLnBrk="1" latinLnBrk="0" hangingPunct="1">
              <a:buFontTx/>
              <a:buChar char="-"/>
            </a:pPr>
            <a:endParaRPr lang="ar-SA" sz="9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endParaRPr>
          </a:p>
        </p:txBody>
      </p:sp>
      <p:sp>
        <p:nvSpPr>
          <p:cNvPr id="24" name="Rounded Rectangle 15">
            <a:extLst>
              <a:ext uri="{FF2B5EF4-FFF2-40B4-BE49-F238E27FC236}">
                <a16:creationId xmlns:a16="http://schemas.microsoft.com/office/drawing/2014/main" id="{48E3C556-ADE1-EE2A-5C50-E460A2F784A7}"/>
              </a:ext>
            </a:extLst>
          </p:cNvPr>
          <p:cNvSpPr/>
          <p:nvPr/>
        </p:nvSpPr>
        <p:spPr>
          <a:xfrm>
            <a:off x="9595905" y="3211722"/>
            <a:ext cx="731784" cy="751484"/>
          </a:xfrm>
          <a:prstGeom prst="roundRect">
            <a:avLst>
              <a:gd name="adj" fmla="val 5000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5" name="مربع نص 24">
            <a:extLst>
              <a:ext uri="{FF2B5EF4-FFF2-40B4-BE49-F238E27FC236}">
                <a16:creationId xmlns:a16="http://schemas.microsoft.com/office/drawing/2014/main" id="{6CCD728D-8FC9-ACA5-CC42-46882A8B83F0}"/>
              </a:ext>
            </a:extLst>
          </p:cNvPr>
          <p:cNvSpPr txBox="1"/>
          <p:nvPr/>
        </p:nvSpPr>
        <p:spPr>
          <a:xfrm>
            <a:off x="8610378" y="3963206"/>
            <a:ext cx="1641176" cy="369332"/>
          </a:xfrm>
          <a:prstGeom prst="rect">
            <a:avLst/>
          </a:prstGeom>
        </p:spPr>
        <p:txBody>
          <a:bodyPr wrap="square">
            <a:spAutoFit/>
          </a:bodyPr>
          <a:lstStyle/>
          <a:p>
            <a:pPr marL="0" algn="r" defTabSz="914400" rtl="1" eaLnBrk="1" latinLnBrk="0" hangingPunct="1"/>
            <a:r>
              <a:rPr lang="ar-SA"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الاستثمار الغائية</a:t>
            </a:r>
          </a:p>
        </p:txBody>
      </p:sp>
      <p:sp>
        <p:nvSpPr>
          <p:cNvPr id="26" name="مربع نص 25">
            <a:extLst>
              <a:ext uri="{FF2B5EF4-FFF2-40B4-BE49-F238E27FC236}">
                <a16:creationId xmlns:a16="http://schemas.microsoft.com/office/drawing/2014/main" id="{3EF096E0-4F4A-5667-4F2C-AE33D5EDA351}"/>
              </a:ext>
            </a:extLst>
          </p:cNvPr>
          <p:cNvSpPr txBox="1"/>
          <p:nvPr/>
        </p:nvSpPr>
        <p:spPr>
          <a:xfrm>
            <a:off x="8317949" y="4377710"/>
            <a:ext cx="2056801" cy="784830"/>
          </a:xfrm>
          <a:prstGeom prst="rect">
            <a:avLst/>
          </a:prstGeom>
          <a:noFill/>
        </p:spPr>
        <p:txBody>
          <a:bodyPr wrap="square">
            <a:spAutoFit/>
          </a:bodyPr>
          <a:lstStyle/>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الاستثمار</a:t>
            </a:r>
          </a:p>
          <a:p>
            <a:pPr marL="285750" indent="-285750" algn="r" defTabSz="914400" rtl="1" eaLnBrk="1" latinLnBrk="0" hangingPunct="1">
              <a:buFontTx/>
              <a:buChar char="-"/>
            </a:pPr>
            <a:r>
              <a:rPr lang="ar-SA" dirty="0">
                <a:solidFill>
                  <a:srgbClr val="000000"/>
                </a:solidFill>
                <a:latin typeface="29LT Azer Extra Light" pitchFamily="2" charset="-78"/>
                <a:cs typeface="29LT Azer Extra Light" pitchFamily="2" charset="-78"/>
              </a:rPr>
              <a:t>الصناديق</a:t>
            </a:r>
          </a:p>
          <a:p>
            <a:pPr marL="285750" indent="-285750" algn="r" defTabSz="914400" rtl="1" eaLnBrk="1" latinLnBrk="0" hangingPunct="1">
              <a:buFontTx/>
              <a:buChar char="-"/>
            </a:pPr>
            <a:endParaRPr lang="ar-SA" sz="9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endParaRPr>
          </a:p>
        </p:txBody>
      </p:sp>
      <p:cxnSp>
        <p:nvCxnSpPr>
          <p:cNvPr id="28" name="رابط بشكل مرفق 27">
            <a:extLst>
              <a:ext uri="{FF2B5EF4-FFF2-40B4-BE49-F238E27FC236}">
                <a16:creationId xmlns:a16="http://schemas.microsoft.com/office/drawing/2014/main" id="{2C2C10ED-BF06-6A0D-4E00-9F7034152BA4}"/>
              </a:ext>
            </a:extLst>
          </p:cNvPr>
          <p:cNvCxnSpPr>
            <a:stCxn id="16" idx="2"/>
            <a:endCxn id="24" idx="0"/>
          </p:cNvCxnSpPr>
          <p:nvPr/>
        </p:nvCxnSpPr>
        <p:spPr>
          <a:xfrm rot="16200000" flipH="1">
            <a:off x="6733995" y="-16080"/>
            <a:ext cx="1486922" cy="49686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موصل مستقيم 29">
            <a:extLst>
              <a:ext uri="{FF2B5EF4-FFF2-40B4-BE49-F238E27FC236}">
                <a16:creationId xmlns:a16="http://schemas.microsoft.com/office/drawing/2014/main" id="{EBD79B01-E185-58CF-5858-B6F7C5F34365}"/>
              </a:ext>
            </a:extLst>
          </p:cNvPr>
          <p:cNvCxnSpPr>
            <a:endCxn id="8" idx="0"/>
          </p:cNvCxnSpPr>
          <p:nvPr/>
        </p:nvCxnSpPr>
        <p:spPr>
          <a:xfrm>
            <a:off x="7353095" y="2468260"/>
            <a:ext cx="0" cy="726174"/>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موصل مستقيم 31">
            <a:extLst>
              <a:ext uri="{FF2B5EF4-FFF2-40B4-BE49-F238E27FC236}">
                <a16:creationId xmlns:a16="http://schemas.microsoft.com/office/drawing/2014/main" id="{4DF3EDC0-3833-D9A7-B957-34BEC5462D2F}"/>
              </a:ext>
            </a:extLst>
          </p:cNvPr>
          <p:cNvCxnSpPr>
            <a:endCxn id="6" idx="0"/>
          </p:cNvCxnSpPr>
          <p:nvPr/>
        </p:nvCxnSpPr>
        <p:spPr>
          <a:xfrm flipH="1">
            <a:off x="4974966" y="2468260"/>
            <a:ext cx="18148" cy="74346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3901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10647475" y="1076286"/>
            <a:ext cx="777269" cy="751484"/>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5" name="مربع نص 4">
            <a:extLst>
              <a:ext uri="{FF2B5EF4-FFF2-40B4-BE49-F238E27FC236}">
                <a16:creationId xmlns:a16="http://schemas.microsoft.com/office/drawing/2014/main" id="{D5E91E37-EC98-0292-6244-0FBF5E7466E9}"/>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dirty="0">
                <a:solidFill>
                  <a:schemeClr val="bg1"/>
                </a:solidFill>
                <a:latin typeface="Geeza Pro" panose="02000400000000000000" pitchFamily="2" charset="-78"/>
                <a:ea typeface="Apple Color Emoji" pitchFamily="2" charset="0"/>
                <a:cs typeface="Geeza Pro" panose="02000400000000000000" pitchFamily="2" charset="-78"/>
              </a:rPr>
              <a:t>مجموعة المحتوى الغائي </a:t>
            </a:r>
          </a:p>
        </p:txBody>
      </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1643270"/>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الاشراف العام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242120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الخطط الاستراتيجية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319913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المالية </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97366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الاستثمار</a:t>
            </a:r>
            <a:endParaRPr lang="ar-SA" dirty="0"/>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474819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التوسع</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rtl="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الاشراف العام </a:t>
            </a:r>
          </a:p>
        </p:txBody>
      </p:sp>
      <p:sp>
        <p:nvSpPr>
          <p:cNvPr id="28" name="مربع نص 27">
            <a:extLst>
              <a:ext uri="{FF2B5EF4-FFF2-40B4-BE49-F238E27FC236}">
                <a16:creationId xmlns:a16="http://schemas.microsoft.com/office/drawing/2014/main" id="{55AE173D-6AE8-F3E2-8837-DE176FC00AD2}"/>
              </a:ext>
            </a:extLst>
          </p:cNvPr>
          <p:cNvSpPr txBox="1"/>
          <p:nvPr/>
        </p:nvSpPr>
        <p:spPr>
          <a:xfrm>
            <a:off x="4591459" y="1853306"/>
            <a:ext cx="6374294" cy="2862322"/>
          </a:xfrm>
          <a:prstGeom prst="rect">
            <a:avLst/>
          </a:prstGeom>
          <a:noFill/>
        </p:spPr>
        <p:txBody>
          <a:bodyPr wrap="square">
            <a:spAutoFit/>
          </a:bodyPr>
          <a:lstStyle/>
          <a:p>
            <a:pPr marL="342900" indent="-342900" algn="justLow" rtl="1">
              <a:buFont typeface="+mj-lt"/>
              <a:buAutoNum type="arabicPeriod"/>
            </a:pPr>
            <a:r>
              <a:rPr lang="ar-SA" dirty="0">
                <a:latin typeface="29LT Azer Extra Light" pitchFamily="2" charset="-78"/>
                <a:cs typeface="29LT Azer Extra Light" pitchFamily="2" charset="-78"/>
              </a:rPr>
              <a:t>التخطيط والتوجيه:</a:t>
            </a:r>
            <a:endParaRPr lang="en-US" dirty="0">
              <a:latin typeface="29LT Azer Extra Light" pitchFamily="2" charset="-78"/>
              <a:cs typeface="29LT Azer Extra Light" pitchFamily="2" charset="-78"/>
            </a:endParaRPr>
          </a:p>
          <a:p>
            <a:pPr marL="342900" indent="-342900" algn="justLow" rtl="1">
              <a:buFont typeface="+mj-lt"/>
              <a:buAutoNum type="arabicPeriod"/>
            </a:pPr>
            <a:r>
              <a:rPr lang="ar-SA" b="1" dirty="0">
                <a:latin typeface="29LT Azer Extra Light" pitchFamily="2" charset="-78"/>
                <a:cs typeface="29LT Azer Extra Light" pitchFamily="2" charset="-78"/>
              </a:rPr>
              <a:t>التنظيم والإدارة:</a:t>
            </a:r>
          </a:p>
          <a:p>
            <a:pPr marL="342900" indent="-342900" algn="justLow" rtl="1">
              <a:buFont typeface="+mj-lt"/>
              <a:buAutoNum type="arabicPeriod"/>
            </a:pPr>
            <a:r>
              <a:rPr lang="ar-SA" b="1" dirty="0">
                <a:latin typeface="29LT Azer Extra Light" pitchFamily="2" charset="-78"/>
                <a:cs typeface="29LT Azer Extra Light" pitchFamily="2" charset="-78"/>
              </a:rPr>
              <a:t>بناء هيكل تنظيمي فعال.</a:t>
            </a:r>
          </a:p>
          <a:p>
            <a:pPr marL="342900" indent="-342900" algn="justLow" rtl="1">
              <a:buFont typeface="+mj-lt"/>
              <a:buAutoNum type="arabicPeriod"/>
            </a:pPr>
            <a:r>
              <a:rPr lang="ar-SA" b="1" dirty="0">
                <a:latin typeface="29LT Azer Extra Light" pitchFamily="2" charset="-78"/>
                <a:cs typeface="29LT Azer Extra Light" pitchFamily="2" charset="-78"/>
              </a:rPr>
              <a:t>إدارة الموارد البشرية</a:t>
            </a:r>
          </a:p>
          <a:p>
            <a:pPr marL="342900" indent="-342900" algn="justLow" rtl="1">
              <a:buFont typeface="+mj-lt"/>
              <a:buAutoNum type="arabicPeriod"/>
            </a:pPr>
            <a:r>
              <a:rPr lang="ar-SA" b="1" dirty="0">
                <a:latin typeface="29LT Azer Extra Light" pitchFamily="2" charset="-78"/>
                <a:cs typeface="29LT Azer Extra Light" pitchFamily="2" charset="-78"/>
              </a:rPr>
              <a:t>متابعة الأداء الفردي والجماعي وتقديم الملاحظات اللازمة.</a:t>
            </a:r>
          </a:p>
          <a:p>
            <a:pPr marL="342900" indent="-342900" algn="justLow" rtl="1">
              <a:buFont typeface="+mj-lt"/>
              <a:buAutoNum type="arabicPeriod"/>
            </a:pPr>
            <a:r>
              <a:rPr lang="ar-SA" b="1" dirty="0">
                <a:latin typeface="29LT Azer Extra Light" pitchFamily="2" charset="-78"/>
                <a:cs typeface="29LT Azer Extra Light" pitchFamily="2" charset="-78"/>
              </a:rPr>
              <a:t>التواصل والتنسيق.</a:t>
            </a:r>
          </a:p>
          <a:p>
            <a:pPr marL="342900" indent="-342900" algn="justLow" rtl="1">
              <a:buFont typeface="+mj-lt"/>
              <a:buAutoNum type="arabicPeriod"/>
            </a:pPr>
            <a:r>
              <a:rPr lang="ar-SA" b="1" dirty="0">
                <a:latin typeface="29LT Azer Extra Light" pitchFamily="2" charset="-78"/>
                <a:cs typeface="29LT Azer Extra Light" pitchFamily="2" charset="-78"/>
              </a:rPr>
              <a:t>حل النزاعات والمشاكل </a:t>
            </a:r>
          </a:p>
          <a:p>
            <a:pPr marL="342900" indent="-342900" algn="justLow" rtl="1">
              <a:buFont typeface="+mj-lt"/>
              <a:buAutoNum type="arabicPeriod"/>
            </a:pPr>
            <a:r>
              <a:rPr lang="ar-SA" b="1" dirty="0">
                <a:latin typeface="29LT Azer Extra Light" pitchFamily="2" charset="-78"/>
                <a:cs typeface="29LT Azer Extra Light" pitchFamily="2" charset="-78"/>
              </a:rPr>
              <a:t>التطوير والتحسين</a:t>
            </a:r>
          </a:p>
          <a:p>
            <a:pPr marL="342900" indent="-342900" algn="justLow" rtl="1">
              <a:buFont typeface="+mj-lt"/>
              <a:buAutoNum type="arabicPeriod"/>
            </a:pPr>
            <a:r>
              <a:rPr lang="ar-SA" b="1" dirty="0">
                <a:latin typeface="29LT Azer Extra Light" pitchFamily="2" charset="-78"/>
                <a:cs typeface="29LT Azer Extra Light" pitchFamily="2" charset="-78"/>
              </a:rPr>
              <a:t>تبني التقنيات والأساليب الجديدة.</a:t>
            </a:r>
          </a:p>
          <a:p>
            <a:pPr marL="342900" indent="-342900" algn="justLow" rtl="1">
              <a:buFont typeface="+mj-lt"/>
              <a:buAutoNum type="arabicPeriod"/>
            </a:pPr>
            <a:r>
              <a:rPr lang="ar-SA" b="1" dirty="0">
                <a:latin typeface="29LT Azer Extra Light" pitchFamily="2" charset="-78"/>
                <a:cs typeface="29LT Azer Extra Light" pitchFamily="2" charset="-78"/>
              </a:rPr>
              <a:t>إجراء تقييمات دورية لأداء</a:t>
            </a:r>
          </a:p>
        </p:txBody>
      </p:sp>
    </p:spTree>
    <p:extLst>
      <p:ext uri="{BB962C8B-B14F-4D97-AF65-F5344CB8AC3E}">
        <p14:creationId xmlns:p14="http://schemas.microsoft.com/office/powerpoint/2010/main" val="3649930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10647475" y="1076286"/>
            <a:ext cx="777269" cy="751484"/>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5" name="مربع نص 4">
            <a:extLst>
              <a:ext uri="{FF2B5EF4-FFF2-40B4-BE49-F238E27FC236}">
                <a16:creationId xmlns:a16="http://schemas.microsoft.com/office/drawing/2014/main" id="{D5E91E37-EC98-0292-6244-0FBF5E7466E9}"/>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dirty="0">
                <a:solidFill>
                  <a:schemeClr val="bg1"/>
                </a:solidFill>
                <a:latin typeface="Geeza Pro" panose="02000400000000000000" pitchFamily="2" charset="-78"/>
                <a:ea typeface="Apple Color Emoji" pitchFamily="2" charset="0"/>
                <a:cs typeface="Geeza Pro" panose="02000400000000000000" pitchFamily="2" charset="-78"/>
              </a:rPr>
              <a:t>مجموعة المحتوى الغائي </a:t>
            </a:r>
          </a:p>
        </p:txBody>
      </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164327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الاشراف العام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2421200"/>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الخطط الاستراتيجية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319913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المالية </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97366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الاستثمار</a:t>
            </a:r>
            <a:endParaRPr lang="ar-SA" dirty="0"/>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474819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التوسع</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rtl="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الخطط </a:t>
            </a:r>
            <a:r>
              <a:rPr lang="ar-SA" sz="1800" dirty="0" err="1">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الاستراتجية</a:t>
            </a:r>
            <a:endPar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endParaRPr>
          </a:p>
        </p:txBody>
      </p:sp>
      <p:sp>
        <p:nvSpPr>
          <p:cNvPr id="28" name="مربع نص 27">
            <a:extLst>
              <a:ext uri="{FF2B5EF4-FFF2-40B4-BE49-F238E27FC236}">
                <a16:creationId xmlns:a16="http://schemas.microsoft.com/office/drawing/2014/main" id="{55AE173D-6AE8-F3E2-8837-DE176FC00AD2}"/>
              </a:ext>
            </a:extLst>
          </p:cNvPr>
          <p:cNvSpPr txBox="1"/>
          <p:nvPr/>
        </p:nvSpPr>
        <p:spPr>
          <a:xfrm>
            <a:off x="4465335" y="1736646"/>
            <a:ext cx="6374294" cy="4801314"/>
          </a:xfrm>
          <a:prstGeom prst="rect">
            <a:avLst/>
          </a:prstGeom>
          <a:noFill/>
        </p:spPr>
        <p:txBody>
          <a:bodyPr wrap="square">
            <a:spAutoFit/>
          </a:bodyPr>
          <a:lstStyle/>
          <a:p>
            <a:pPr algn="r" rtl="1">
              <a:buFont typeface="Arial" panose="020B0604020202020204" pitchFamily="34" charset="0"/>
              <a:buChar char="•"/>
            </a:pPr>
            <a:r>
              <a:rPr lang="ar-SA" b="1" dirty="0">
                <a:latin typeface="29LT Azer Extra Light" pitchFamily="2" charset="-78"/>
                <a:cs typeface="29LT Azer Extra Light" pitchFamily="2" charset="-78"/>
              </a:rPr>
              <a:t>تحديد الرؤية والرسالة،</a:t>
            </a:r>
          </a:p>
          <a:p>
            <a:pPr marL="285750" indent="-285750" algn="r" rtl="1">
              <a:buFont typeface="Wingdings" pitchFamily="2" charset="2"/>
              <a:buChar char="Ø"/>
            </a:pPr>
            <a:r>
              <a:rPr lang="ar-SA" dirty="0">
                <a:latin typeface="29LT Azer Extra Light" pitchFamily="2" charset="-78"/>
                <a:cs typeface="29LT Azer Extra Light" pitchFamily="2" charset="-78"/>
              </a:rPr>
              <a:t>تحديد الرسالة التي تعبر عن قيم المنظمة وأهدافها.</a:t>
            </a:r>
          </a:p>
          <a:p>
            <a:pPr algn="r" rtl="1">
              <a:buFont typeface="Arial" panose="020B0604020202020204" pitchFamily="34" charset="0"/>
              <a:buChar char="•"/>
            </a:pPr>
            <a:r>
              <a:rPr lang="ar-SA" b="1" dirty="0">
                <a:latin typeface="29LT Azer Extra Light" pitchFamily="2" charset="-78"/>
                <a:cs typeface="29LT Azer Extra Light" pitchFamily="2" charset="-78"/>
              </a:rPr>
              <a:t>تحليل البيئة الداخلية والخارجية.</a:t>
            </a:r>
          </a:p>
          <a:p>
            <a:pPr marL="285750" indent="-285750" algn="r" rtl="1">
              <a:buFont typeface="Wingdings" pitchFamily="2" charset="2"/>
              <a:buChar char="Ø"/>
            </a:pPr>
            <a:r>
              <a:rPr lang="ar-SA" dirty="0">
                <a:latin typeface="29LT Azer Extra Light" pitchFamily="2" charset="-78"/>
                <a:cs typeface="29LT Azer Extra Light" pitchFamily="2" charset="-78"/>
              </a:rPr>
              <a:t>تحديد الفرص والتحديات الموجودة في السوق والبيئة المحيطة.</a:t>
            </a:r>
          </a:p>
          <a:p>
            <a:pPr algn="r" rtl="1">
              <a:buFont typeface="Arial" panose="020B0604020202020204" pitchFamily="34" charset="0"/>
              <a:buChar char="•"/>
            </a:pPr>
            <a:r>
              <a:rPr lang="ar-SA" b="1" dirty="0">
                <a:latin typeface="29LT Azer Extra Light" pitchFamily="2" charset="-78"/>
                <a:cs typeface="29LT Azer Extra Light" pitchFamily="2" charset="-78"/>
              </a:rPr>
              <a:t>وضع الأهداف الاستراتيجية.</a:t>
            </a:r>
          </a:p>
          <a:p>
            <a:pPr marL="285750" indent="-285750" algn="r" rtl="1">
              <a:buFont typeface="Wingdings" pitchFamily="2" charset="2"/>
              <a:buChar char="Ø"/>
            </a:pPr>
            <a:r>
              <a:rPr lang="ar-SA" dirty="0">
                <a:latin typeface="29LT Azer Extra Light" pitchFamily="2" charset="-78"/>
                <a:cs typeface="29LT Azer Extra Light" pitchFamily="2" charset="-78"/>
              </a:rPr>
              <a:t>تحديد مؤشرات الأداء الرئيسية لقياس التقدم نحو تحقيق الأهداف.</a:t>
            </a:r>
          </a:p>
          <a:p>
            <a:pPr algn="r" rtl="1">
              <a:buFont typeface="Arial" panose="020B0604020202020204" pitchFamily="34" charset="0"/>
              <a:buChar char="•"/>
            </a:pPr>
            <a:r>
              <a:rPr lang="ar-SA" b="1" dirty="0">
                <a:latin typeface="29LT Azer Extra Light" pitchFamily="2" charset="-78"/>
                <a:cs typeface="29LT Azer Extra Light" pitchFamily="2" charset="-78"/>
              </a:rPr>
              <a:t>صياغة الاستراتيجيات.</a:t>
            </a:r>
          </a:p>
          <a:p>
            <a:pPr marL="285750" indent="-285750" algn="r" rtl="1">
              <a:buFont typeface="Wingdings" pitchFamily="2" charset="2"/>
              <a:buChar char="Ø"/>
            </a:pPr>
            <a:r>
              <a:rPr lang="ar-SA" dirty="0">
                <a:latin typeface="29LT Azer Extra Light" pitchFamily="2" charset="-78"/>
                <a:cs typeface="29LT Azer Extra Light" pitchFamily="2" charset="-78"/>
              </a:rPr>
              <a:t>اختيار الاستراتيجيات الأكثر ملاءمة للمنظمة والموارد المتاحة.</a:t>
            </a:r>
          </a:p>
          <a:p>
            <a:pPr algn="r" rtl="1">
              <a:buFont typeface="Arial" panose="020B0604020202020204" pitchFamily="34" charset="0"/>
              <a:buChar char="•"/>
            </a:pPr>
            <a:r>
              <a:rPr lang="ar-SA" b="1" dirty="0">
                <a:latin typeface="29LT Azer Extra Light" pitchFamily="2" charset="-78"/>
                <a:cs typeface="29LT Azer Extra Light" pitchFamily="2" charset="-78"/>
              </a:rPr>
              <a:t>تخصيص الموارد</a:t>
            </a:r>
          </a:p>
          <a:p>
            <a:pPr marL="285750" indent="-285750" algn="r" rtl="1">
              <a:buFont typeface="Wingdings" pitchFamily="2" charset="2"/>
              <a:buChar char="Ø"/>
            </a:pPr>
            <a:r>
              <a:rPr lang="ar-SA" dirty="0">
                <a:latin typeface="29LT Azer Extra Light" pitchFamily="2" charset="-78"/>
                <a:cs typeface="29LT Azer Extra Light" pitchFamily="2" charset="-78"/>
              </a:rPr>
              <a:t>تخصيص الموارد المالية والبشرية والمادية اللازمة لتنفيذ الاستراتيجيات.</a:t>
            </a:r>
          </a:p>
          <a:p>
            <a:pPr marL="285750" indent="-285750" algn="r" rtl="1">
              <a:buFont typeface="Wingdings" pitchFamily="2" charset="2"/>
              <a:buChar char="Ø"/>
            </a:pPr>
            <a:r>
              <a:rPr lang="ar-SA" dirty="0">
                <a:latin typeface="29LT Azer Extra Light" pitchFamily="2" charset="-78"/>
                <a:cs typeface="29LT Azer Extra Light" pitchFamily="2" charset="-78"/>
              </a:rPr>
              <a:t>تحديد الأولويات وتوزيع الموارد بشكل فعال.</a:t>
            </a:r>
          </a:p>
          <a:p>
            <a:pPr algn="r" rtl="1">
              <a:buFont typeface="Arial" panose="020B0604020202020204" pitchFamily="34" charset="0"/>
              <a:buChar char="•"/>
            </a:pPr>
            <a:r>
              <a:rPr lang="ar-SA" b="1" dirty="0">
                <a:latin typeface="29LT Azer Extra Light" pitchFamily="2" charset="-78"/>
                <a:cs typeface="29LT Azer Extra Light" pitchFamily="2" charset="-78"/>
              </a:rPr>
              <a:t>تنفيذ الخطط</a:t>
            </a:r>
          </a:p>
          <a:p>
            <a:pPr marL="285750" indent="-285750" algn="r" rtl="1">
              <a:buFont typeface="Wingdings" pitchFamily="2" charset="2"/>
              <a:buChar char="Ø"/>
            </a:pPr>
            <a:r>
              <a:rPr lang="ar-SA" dirty="0">
                <a:latin typeface="29LT Azer Extra Light" pitchFamily="2" charset="-78"/>
                <a:cs typeface="29LT Azer Extra Light" pitchFamily="2" charset="-78"/>
              </a:rPr>
              <a:t>وضع خطط عمل تفصيلية لتنفيذ كل استراتيجية.</a:t>
            </a:r>
          </a:p>
          <a:p>
            <a:pPr marL="285750" indent="-285750" algn="r" rtl="1">
              <a:buFont typeface="Wingdings" pitchFamily="2" charset="2"/>
              <a:buChar char="Ø"/>
            </a:pPr>
            <a:r>
              <a:rPr lang="ar-SA" dirty="0">
                <a:latin typeface="29LT Azer Extra Light" pitchFamily="2" charset="-78"/>
                <a:cs typeface="29LT Azer Extra Light" pitchFamily="2" charset="-78"/>
              </a:rPr>
              <a:t>متابعة تنفيذ الخطط والتأكد من تحقيق الأهداف الجزئية.</a:t>
            </a:r>
          </a:p>
          <a:p>
            <a:pPr algn="r" rtl="1">
              <a:buFont typeface="Arial" panose="020B0604020202020204" pitchFamily="34" charset="0"/>
              <a:buChar char="•"/>
            </a:pPr>
            <a:r>
              <a:rPr lang="ar-SA" b="1" dirty="0">
                <a:latin typeface="29LT Azer Extra Light" pitchFamily="2" charset="-78"/>
                <a:cs typeface="29LT Azer Extra Light" pitchFamily="2" charset="-78"/>
              </a:rPr>
              <a:t>التقييم والتحسين</a:t>
            </a:r>
          </a:p>
          <a:p>
            <a:pPr marL="285750" indent="-285750" algn="r" rtl="1">
              <a:buFont typeface="Wingdings" pitchFamily="2" charset="2"/>
              <a:buChar char="Ø"/>
            </a:pPr>
            <a:r>
              <a:rPr lang="ar-SA" dirty="0">
                <a:latin typeface="29LT Azer Extra Light" pitchFamily="2" charset="-78"/>
                <a:cs typeface="29LT Azer Extra Light" pitchFamily="2" charset="-78"/>
              </a:rPr>
              <a:t>تقييم أداء الاستراتيجيات بشكل دوري.</a:t>
            </a:r>
          </a:p>
          <a:p>
            <a:pPr marL="285750" indent="-285750" algn="r" rtl="1">
              <a:buFont typeface="Wingdings" pitchFamily="2" charset="2"/>
              <a:buChar char="Ø"/>
            </a:pPr>
            <a:r>
              <a:rPr lang="ar-SA" dirty="0">
                <a:latin typeface="29LT Azer Extra Light" pitchFamily="2" charset="-78"/>
                <a:cs typeface="29LT Azer Extra Light" pitchFamily="2" charset="-78"/>
              </a:rPr>
              <a:t>إجراء التعديلات اللازمة على الخطط والاستراتيجيات لتحقيق نتائج أفضل.</a:t>
            </a:r>
          </a:p>
        </p:txBody>
      </p:sp>
    </p:spTree>
    <p:extLst>
      <p:ext uri="{BB962C8B-B14F-4D97-AF65-F5344CB8AC3E}">
        <p14:creationId xmlns:p14="http://schemas.microsoft.com/office/powerpoint/2010/main" val="544454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10647475" y="1076286"/>
            <a:ext cx="777269" cy="751484"/>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5" name="مربع نص 4">
            <a:extLst>
              <a:ext uri="{FF2B5EF4-FFF2-40B4-BE49-F238E27FC236}">
                <a16:creationId xmlns:a16="http://schemas.microsoft.com/office/drawing/2014/main" id="{D5E91E37-EC98-0292-6244-0FBF5E7466E9}"/>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dirty="0">
                <a:solidFill>
                  <a:schemeClr val="bg1"/>
                </a:solidFill>
                <a:latin typeface="Geeza Pro" panose="02000400000000000000" pitchFamily="2" charset="-78"/>
                <a:ea typeface="Apple Color Emoji" pitchFamily="2" charset="0"/>
                <a:cs typeface="Geeza Pro" panose="02000400000000000000" pitchFamily="2" charset="-78"/>
              </a:rPr>
              <a:t>مجموعة المحتوى الغائي </a:t>
            </a:r>
          </a:p>
        </p:txBody>
      </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164327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الاشراف العام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242120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الخطط الاستراتيجية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3199130"/>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المالية </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97366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الاستثمار</a:t>
            </a:r>
            <a:endParaRPr lang="ar-SA" dirty="0"/>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474819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التوسع</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rtl="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المالية</a:t>
            </a:r>
          </a:p>
        </p:txBody>
      </p:sp>
      <p:sp>
        <p:nvSpPr>
          <p:cNvPr id="28" name="مربع نص 27">
            <a:extLst>
              <a:ext uri="{FF2B5EF4-FFF2-40B4-BE49-F238E27FC236}">
                <a16:creationId xmlns:a16="http://schemas.microsoft.com/office/drawing/2014/main" id="{55AE173D-6AE8-F3E2-8837-DE176FC00AD2}"/>
              </a:ext>
            </a:extLst>
          </p:cNvPr>
          <p:cNvSpPr txBox="1"/>
          <p:nvPr/>
        </p:nvSpPr>
        <p:spPr>
          <a:xfrm>
            <a:off x="4956771" y="2372139"/>
            <a:ext cx="6374294" cy="2862322"/>
          </a:xfrm>
          <a:prstGeom prst="rect">
            <a:avLst/>
          </a:prstGeom>
          <a:noFill/>
        </p:spPr>
        <p:txBody>
          <a:bodyPr wrap="square">
            <a:spAutoFit/>
          </a:bodyPr>
          <a:lstStyle/>
          <a:p>
            <a:pPr marL="342900" indent="-342900" algn="justLow" rtl="1">
              <a:buFont typeface="+mj-lt"/>
              <a:buAutoNum type="arabicPeriod"/>
            </a:pPr>
            <a:r>
              <a:rPr lang="ar-SA" b="1" dirty="0">
                <a:latin typeface="29LT Azer Extra Light" pitchFamily="2" charset="-78"/>
                <a:cs typeface="29LT Azer Extra Light" pitchFamily="2" charset="-78"/>
              </a:rPr>
              <a:t>إعداد الميزانية </a:t>
            </a:r>
          </a:p>
          <a:p>
            <a:pPr marL="342900" indent="-342900" algn="justLow" rtl="1">
              <a:buFont typeface="+mj-lt"/>
              <a:buAutoNum type="arabicPeriod"/>
            </a:pPr>
            <a:r>
              <a:rPr lang="ar-SA" b="1" dirty="0">
                <a:latin typeface="29LT Azer Extra Light" pitchFamily="2" charset="-78"/>
                <a:cs typeface="29LT Azer Extra Light" pitchFamily="2" charset="-78"/>
              </a:rPr>
              <a:t>اتخاذ القرارات المالية </a:t>
            </a:r>
          </a:p>
          <a:p>
            <a:pPr marL="342900" indent="-342900" algn="justLow" rtl="1">
              <a:buFont typeface="+mj-lt"/>
              <a:buAutoNum type="arabicPeriod"/>
            </a:pPr>
            <a:r>
              <a:rPr lang="ar-SA" b="1" dirty="0">
                <a:latin typeface="29LT Azer Extra Light" pitchFamily="2" charset="-78"/>
                <a:cs typeface="29LT Azer Extra Light" pitchFamily="2" charset="-78"/>
              </a:rPr>
              <a:t>السيطرة على التكاليف</a:t>
            </a:r>
          </a:p>
          <a:p>
            <a:pPr marL="342900" indent="-342900" algn="justLow" rtl="1">
              <a:buFont typeface="+mj-lt"/>
              <a:buAutoNum type="arabicPeriod"/>
            </a:pPr>
            <a:r>
              <a:rPr lang="ar-SA" b="1" dirty="0">
                <a:latin typeface="29LT Azer Extra Light" pitchFamily="2" charset="-78"/>
                <a:cs typeface="29LT Azer Extra Light" pitchFamily="2" charset="-78"/>
              </a:rPr>
              <a:t>جذب الاستثمارات</a:t>
            </a:r>
          </a:p>
          <a:p>
            <a:pPr marL="342900" indent="-342900" algn="justLow" rtl="1">
              <a:buFont typeface="+mj-lt"/>
              <a:buAutoNum type="arabicPeriod"/>
            </a:pPr>
            <a:r>
              <a:rPr lang="ar-SA" b="1" dirty="0">
                <a:latin typeface="29LT Azer Extra Light" pitchFamily="2" charset="-78"/>
                <a:cs typeface="29LT Azer Extra Light" pitchFamily="2" charset="-78"/>
              </a:rPr>
              <a:t>التخطيط للمستقبل</a:t>
            </a:r>
          </a:p>
          <a:p>
            <a:pPr marL="342900" indent="-342900" algn="justLow" rtl="1">
              <a:buFont typeface="+mj-lt"/>
              <a:buAutoNum type="arabicPeriod"/>
            </a:pPr>
            <a:r>
              <a:rPr lang="ar-SA" b="1" dirty="0">
                <a:latin typeface="29LT Azer Extra Light" pitchFamily="2" charset="-78"/>
                <a:cs typeface="29LT Azer Extra Light" pitchFamily="2" charset="-78"/>
              </a:rPr>
              <a:t>السيولة المالية</a:t>
            </a:r>
          </a:p>
          <a:p>
            <a:pPr marL="342900" indent="-342900" algn="justLow" rtl="1">
              <a:buFont typeface="+mj-lt"/>
              <a:buAutoNum type="arabicPeriod"/>
            </a:pPr>
            <a:r>
              <a:rPr lang="ar-SA" b="1" dirty="0">
                <a:latin typeface="29LT Azer Extra Light" pitchFamily="2" charset="-78"/>
                <a:cs typeface="29LT Azer Extra Light" pitchFamily="2" charset="-78"/>
              </a:rPr>
              <a:t>إدارة التدفقات النقدية</a:t>
            </a:r>
          </a:p>
          <a:p>
            <a:pPr marL="342900" indent="-342900" algn="justLow" rtl="1">
              <a:buFont typeface="+mj-lt"/>
              <a:buAutoNum type="arabicPeriod"/>
            </a:pPr>
            <a:r>
              <a:rPr lang="ar-SA" b="1" dirty="0">
                <a:latin typeface="29LT Azer Extra Light" pitchFamily="2" charset="-78"/>
                <a:cs typeface="29LT Azer Extra Light" pitchFamily="2" charset="-78"/>
              </a:rPr>
              <a:t>إدارة الحسابات</a:t>
            </a:r>
          </a:p>
          <a:p>
            <a:pPr marL="342900" indent="-342900" algn="justLow" rtl="1">
              <a:buFont typeface="+mj-lt"/>
              <a:buAutoNum type="arabicPeriod"/>
            </a:pPr>
            <a:r>
              <a:rPr lang="ar-SA" b="1" dirty="0">
                <a:latin typeface="29LT Azer Extra Light" pitchFamily="2" charset="-78"/>
                <a:cs typeface="29LT Azer Extra Light" pitchFamily="2" charset="-78"/>
              </a:rPr>
              <a:t>تحليل البيانات المالية</a:t>
            </a:r>
          </a:p>
          <a:p>
            <a:pPr algn="justLow" rtl="1">
              <a:buFont typeface="Arial" panose="020B0604020202020204" pitchFamily="34" charset="0"/>
              <a:buChar char="•"/>
            </a:pPr>
            <a:r>
              <a:rPr lang="ar-SA" dirty="0">
                <a:latin typeface="29LT Azer Extra Light" pitchFamily="2" charset="-78"/>
                <a:cs typeface="29LT Azer Extra Light" pitchFamily="2" charset="-78"/>
              </a:rPr>
              <a:t>خطط مالية مستقبلية وتحديد الأهداف المالية طويلة الأجل.</a:t>
            </a:r>
          </a:p>
        </p:txBody>
      </p:sp>
    </p:spTree>
    <p:extLst>
      <p:ext uri="{BB962C8B-B14F-4D97-AF65-F5344CB8AC3E}">
        <p14:creationId xmlns:p14="http://schemas.microsoft.com/office/powerpoint/2010/main" val="1624625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10647475" y="1076286"/>
            <a:ext cx="777269" cy="751484"/>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5" name="مربع نص 4">
            <a:extLst>
              <a:ext uri="{FF2B5EF4-FFF2-40B4-BE49-F238E27FC236}">
                <a16:creationId xmlns:a16="http://schemas.microsoft.com/office/drawing/2014/main" id="{D5E91E37-EC98-0292-6244-0FBF5E7466E9}"/>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dirty="0">
                <a:solidFill>
                  <a:schemeClr val="bg1"/>
                </a:solidFill>
                <a:latin typeface="Geeza Pro" panose="02000400000000000000" pitchFamily="2" charset="-78"/>
                <a:ea typeface="Apple Color Emoji" pitchFamily="2" charset="0"/>
                <a:cs typeface="Geeza Pro" panose="02000400000000000000" pitchFamily="2" charset="-78"/>
              </a:rPr>
              <a:t>مجموعة المحتوى الغائي </a:t>
            </a:r>
          </a:p>
        </p:txBody>
      </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164327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الاشراف العام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242120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الخطط الاستراتيجية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319913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المالية </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973660"/>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الاستثمار</a:t>
            </a:r>
            <a:endParaRPr lang="ar-SA" dirty="0"/>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474819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التوسع</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rtl="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الاستثمار</a:t>
            </a:r>
          </a:p>
        </p:txBody>
      </p:sp>
      <p:sp>
        <p:nvSpPr>
          <p:cNvPr id="28" name="مربع نص 27">
            <a:extLst>
              <a:ext uri="{FF2B5EF4-FFF2-40B4-BE49-F238E27FC236}">
                <a16:creationId xmlns:a16="http://schemas.microsoft.com/office/drawing/2014/main" id="{55AE173D-6AE8-F3E2-8837-DE176FC00AD2}"/>
              </a:ext>
            </a:extLst>
          </p:cNvPr>
          <p:cNvSpPr txBox="1"/>
          <p:nvPr/>
        </p:nvSpPr>
        <p:spPr>
          <a:xfrm>
            <a:off x="2165533" y="1874717"/>
            <a:ext cx="9449818" cy="4524315"/>
          </a:xfrm>
          <a:prstGeom prst="rect">
            <a:avLst/>
          </a:prstGeom>
        </p:spPr>
        <p:txBody>
          <a:bodyPr wrap="square">
            <a:spAutoFit/>
          </a:bodyPr>
          <a:lstStyle/>
          <a:p>
            <a:pPr algn="justLow" rtl="1"/>
            <a:r>
              <a:rPr lang="ar-SA" sz="1600" b="1" dirty="0">
                <a:latin typeface="29LT Azer Extra Light" pitchFamily="2" charset="-78"/>
                <a:cs typeface="29LT Azer Extra Light" pitchFamily="2" charset="-78"/>
              </a:rPr>
              <a:t>تحديد الأهداف الاستثمارية</a:t>
            </a:r>
          </a:p>
          <a:p>
            <a:pPr marL="342900" indent="-342900" algn="justLow" rtl="1">
              <a:buFont typeface="Courier New" panose="02070309020205020404" pitchFamily="49" charset="0"/>
              <a:buChar char="o"/>
            </a:pPr>
            <a:r>
              <a:rPr lang="ar-SA" sz="1600" dirty="0">
                <a:latin typeface="29LT Azer Extra Light" pitchFamily="2" charset="-78"/>
                <a:cs typeface="29LT Azer Extra Light" pitchFamily="2" charset="-78"/>
              </a:rPr>
              <a:t> تحديد الأهداف الاستثمارية المراد تحقيقها، سواء كانت زيادة رأس المال، أو تطوير منتجات جديدة، أو توسيع الأسواق.</a:t>
            </a:r>
          </a:p>
          <a:p>
            <a:pPr algn="justLow" rtl="1"/>
            <a:r>
              <a:rPr lang="ar-SA" sz="1600" b="1" dirty="0">
                <a:latin typeface="29LT Azer Extra Light" pitchFamily="2" charset="-78"/>
                <a:cs typeface="29LT Azer Extra Light" pitchFamily="2" charset="-78"/>
              </a:rPr>
              <a:t>دراسة السوق الاستثماري</a:t>
            </a:r>
          </a:p>
          <a:p>
            <a:pPr marL="342900" indent="-342900" algn="justLow" rtl="1">
              <a:buFont typeface="Courier New" panose="02070309020205020404" pitchFamily="49" charset="0"/>
              <a:buChar char="o"/>
            </a:pPr>
            <a:r>
              <a:rPr lang="ar-SA" sz="1600" dirty="0">
                <a:latin typeface="29LT Azer Extra Light" pitchFamily="2" charset="-78"/>
                <a:cs typeface="29LT Azer Extra Light" pitchFamily="2" charset="-78"/>
              </a:rPr>
              <a:t>دراسة السوق الاستثماري المحلي والإقليمي والعالمي لتحديد الفرص الاستثمارية المتاحة والجهات المستثمرة المحتملة</a:t>
            </a:r>
          </a:p>
          <a:p>
            <a:pPr algn="justLow" rtl="1"/>
            <a:r>
              <a:rPr lang="ar-SA" sz="1600" dirty="0">
                <a:latin typeface="29LT Azer Extra Light" pitchFamily="2" charset="-78"/>
                <a:cs typeface="29LT Azer Extra Light" pitchFamily="2" charset="-78"/>
              </a:rPr>
              <a:t>تطوير استراتيجية جذب الاستثمارات</a:t>
            </a:r>
          </a:p>
          <a:p>
            <a:pPr marL="285750" indent="-285750" algn="justLow" rtl="1">
              <a:buFont typeface="Courier New" panose="02070309020205020404" pitchFamily="49" charset="0"/>
              <a:buChar char="o"/>
            </a:pPr>
            <a:r>
              <a:rPr lang="ar-SA" sz="1600" dirty="0">
                <a:latin typeface="29LT Azer Extra Light" pitchFamily="2" charset="-78"/>
                <a:cs typeface="29LT Azer Extra Light" pitchFamily="2" charset="-78"/>
              </a:rPr>
              <a:t> وضع خطة شاملة لجذب الاستثمارات، تتضمن تحديد الجهات المستهدفة، وتطوير رسالة تسويقية قوية، وتحديد الحوافز التي يمكن تقديمها للمستثمرين.</a:t>
            </a:r>
          </a:p>
          <a:p>
            <a:pPr algn="justLow" rtl="1"/>
            <a:r>
              <a:rPr lang="ar-SA" sz="1600" b="1" dirty="0">
                <a:latin typeface="29LT Azer Extra Light" pitchFamily="2" charset="-78"/>
                <a:cs typeface="29LT Azer Extra Light" pitchFamily="2" charset="-78"/>
              </a:rPr>
              <a:t>التسويق الاستثماري:</a:t>
            </a:r>
            <a:endParaRPr lang="en-US" sz="1600" b="1" dirty="0">
              <a:latin typeface="29LT Azer Extra Light" pitchFamily="2" charset="-78"/>
              <a:cs typeface="29LT Azer Extra Light" pitchFamily="2" charset="-78"/>
            </a:endParaRPr>
          </a:p>
          <a:p>
            <a:pPr marL="285750" indent="-285750" algn="justLow" rtl="1">
              <a:buFont typeface="Courier New" panose="02070309020205020404" pitchFamily="49" charset="0"/>
              <a:buChar char="o"/>
            </a:pPr>
            <a:r>
              <a:rPr lang="ar-SA" sz="1600" dirty="0">
                <a:latin typeface="29LT Azer Extra Light" pitchFamily="2" charset="-78"/>
                <a:cs typeface="29LT Azer Extra Light" pitchFamily="2" charset="-78"/>
              </a:rPr>
              <a:t> التسويق للفرص الاستثمارية المتاحة، سواء كانت من خلال المعارض والمؤتمرات أو من خلال الحملات التسويقية الرقمية</a:t>
            </a:r>
          </a:p>
          <a:p>
            <a:pPr algn="justLow" rtl="1"/>
            <a:r>
              <a:rPr lang="ar-SA" sz="1600" dirty="0">
                <a:latin typeface="29LT Azer Extra Light" pitchFamily="2" charset="-78"/>
                <a:cs typeface="29LT Azer Extra Light" pitchFamily="2" charset="-78"/>
              </a:rPr>
              <a:t>إعداد المواد الترويجية</a:t>
            </a:r>
            <a:endParaRPr lang="en-US" sz="1600" dirty="0">
              <a:latin typeface="29LT Azer Extra Light" pitchFamily="2" charset="-78"/>
              <a:cs typeface="29LT Azer Extra Light" pitchFamily="2" charset="-78"/>
            </a:endParaRPr>
          </a:p>
          <a:p>
            <a:pPr marL="285750" indent="-285750" algn="justLow" rtl="1">
              <a:buFont typeface="Courier New" panose="02070309020205020404" pitchFamily="49" charset="0"/>
              <a:buChar char="o"/>
            </a:pPr>
            <a:r>
              <a:rPr lang="ar-SA" sz="1600" dirty="0">
                <a:latin typeface="29LT Azer Extra Light" pitchFamily="2" charset="-78"/>
                <a:cs typeface="29LT Azer Extra Light" pitchFamily="2" charset="-78"/>
              </a:rPr>
              <a:t>إعداد المواد الترويجية اللازمة لجذب المستثمرين، مثل النشرات الترويجية، والعروض التقديمية، ومقاطع الفيديو.</a:t>
            </a:r>
          </a:p>
          <a:p>
            <a:pPr algn="justLow" rtl="1"/>
            <a:r>
              <a:rPr lang="ar-SA" sz="1600" b="1" dirty="0">
                <a:latin typeface="29LT Azer Extra Light" pitchFamily="2" charset="-78"/>
                <a:cs typeface="29LT Azer Extra Light" pitchFamily="2" charset="-78"/>
              </a:rPr>
              <a:t>البحث عن المستثمرين</a:t>
            </a:r>
            <a:endParaRPr lang="en-US" sz="1600" b="1" dirty="0">
              <a:latin typeface="29LT Azer Extra Light" pitchFamily="2" charset="-78"/>
              <a:cs typeface="29LT Azer Extra Light" pitchFamily="2" charset="-78"/>
            </a:endParaRPr>
          </a:p>
          <a:p>
            <a:pPr marL="285750" indent="-285750" algn="justLow" rtl="1">
              <a:buFont typeface="Courier New" panose="02070309020205020404" pitchFamily="49" charset="0"/>
              <a:buChar char="o"/>
            </a:pPr>
            <a:r>
              <a:rPr lang="ar-SA" sz="1600" dirty="0">
                <a:latin typeface="29LT Azer Extra Light" pitchFamily="2" charset="-78"/>
                <a:cs typeface="29LT Azer Extra Light" pitchFamily="2" charset="-78"/>
              </a:rPr>
              <a:t> البحث عن المستثمرين المحتملين سواء كانوا أفرادًا أو مؤسسات، وتقييم مدى ملاءمتهم للأهداف الاستثمارية للمؤسسة.</a:t>
            </a:r>
          </a:p>
          <a:p>
            <a:pPr algn="justLow" rtl="1"/>
            <a:r>
              <a:rPr lang="ar-SA" sz="1600" b="1" dirty="0">
                <a:latin typeface="29LT Azer Extra Light" pitchFamily="2" charset="-78"/>
                <a:cs typeface="29LT Azer Extra Light" pitchFamily="2" charset="-78"/>
              </a:rPr>
              <a:t>إجراء المفاوضات</a:t>
            </a:r>
            <a:endParaRPr lang="en-US" sz="1600" b="1" dirty="0">
              <a:latin typeface="29LT Azer Extra Light" pitchFamily="2" charset="-78"/>
              <a:cs typeface="29LT Azer Extra Light" pitchFamily="2" charset="-78"/>
            </a:endParaRPr>
          </a:p>
          <a:p>
            <a:pPr marL="285750" indent="-285750" algn="justLow" rtl="1">
              <a:buFont typeface="Courier New" panose="02070309020205020404" pitchFamily="49" charset="0"/>
              <a:buChar char="o"/>
            </a:pPr>
            <a:r>
              <a:rPr lang="ar-SA" sz="1600" dirty="0">
                <a:latin typeface="29LT Azer Extra Light" pitchFamily="2" charset="-78"/>
                <a:cs typeface="29LT Azer Extra Light" pitchFamily="2" charset="-78"/>
              </a:rPr>
              <a:t> إجراء مفاوضات مع المستثمرين المحتملين للوصول إلى اتفاقيات استثمارية تحقق مصالح جميع الأطراف.</a:t>
            </a:r>
          </a:p>
          <a:p>
            <a:pPr algn="justLow" rtl="1"/>
            <a:r>
              <a:rPr lang="ar-SA" sz="1600" b="1" dirty="0">
                <a:latin typeface="29LT Azer Extra Light" pitchFamily="2" charset="-78"/>
                <a:cs typeface="29LT Azer Extra Light" pitchFamily="2" charset="-78"/>
              </a:rPr>
              <a:t>تقديم الدعم للمستثمرين</a:t>
            </a:r>
            <a:endParaRPr lang="en-US" sz="1600" b="1" dirty="0">
              <a:latin typeface="29LT Azer Extra Light" pitchFamily="2" charset="-78"/>
              <a:cs typeface="29LT Azer Extra Light" pitchFamily="2" charset="-78"/>
            </a:endParaRPr>
          </a:p>
          <a:p>
            <a:pPr marL="285750" indent="-285750" algn="justLow" rtl="1">
              <a:buFont typeface="Courier New" panose="02070309020205020404" pitchFamily="49" charset="0"/>
              <a:buChar char="o"/>
            </a:pPr>
            <a:r>
              <a:rPr lang="ar-SA" sz="1600" dirty="0">
                <a:latin typeface="29LT Azer Extra Light" pitchFamily="2" charset="-78"/>
                <a:cs typeface="29LT Azer Extra Light" pitchFamily="2" charset="-78"/>
              </a:rPr>
              <a:t> تقديم الدعم اللازم للمستثمرين بعد توقيع اتفاقيات الاستثمار، بما في ذلك تسهيل إجراءات التراخيص </a:t>
            </a:r>
            <a:r>
              <a:rPr lang="ar-SA" sz="1600" dirty="0" err="1">
                <a:latin typeface="29LT Azer Extra Light" pitchFamily="2" charset="-78"/>
                <a:cs typeface="29LT Azer Extra Light" pitchFamily="2" charset="-78"/>
              </a:rPr>
              <a:t>والتصاريح.متابعة</a:t>
            </a:r>
            <a:r>
              <a:rPr lang="ar-SA" sz="1600" dirty="0">
                <a:latin typeface="29LT Azer Extra Light" pitchFamily="2" charset="-78"/>
                <a:cs typeface="29LT Azer Extra Light" pitchFamily="2" charset="-78"/>
              </a:rPr>
              <a:t> الأداء: متابعة أداء الاستثمارات المحققة وتقييم مدى تحقيق الأهداف المحددة.</a:t>
            </a:r>
          </a:p>
        </p:txBody>
      </p:sp>
    </p:spTree>
    <p:extLst>
      <p:ext uri="{BB962C8B-B14F-4D97-AF65-F5344CB8AC3E}">
        <p14:creationId xmlns:p14="http://schemas.microsoft.com/office/powerpoint/2010/main" val="2467448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6" name="Rounded Rectangle 15">
            <a:extLst>
              <a:ext uri="{FF2B5EF4-FFF2-40B4-BE49-F238E27FC236}">
                <a16:creationId xmlns:a16="http://schemas.microsoft.com/office/drawing/2014/main" id="{D3F39C56-060A-A552-EC96-D2FCCD5D99AB}"/>
              </a:ext>
            </a:extLst>
          </p:cNvPr>
          <p:cNvSpPr/>
          <p:nvPr/>
        </p:nvSpPr>
        <p:spPr>
          <a:xfrm>
            <a:off x="10647475" y="1076286"/>
            <a:ext cx="777269" cy="751484"/>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5" name="مربع نص 4">
            <a:extLst>
              <a:ext uri="{FF2B5EF4-FFF2-40B4-BE49-F238E27FC236}">
                <a16:creationId xmlns:a16="http://schemas.microsoft.com/office/drawing/2014/main" id="{D5E91E37-EC98-0292-6244-0FBF5E7466E9}"/>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dirty="0">
                <a:solidFill>
                  <a:schemeClr val="bg1"/>
                </a:solidFill>
                <a:latin typeface="Geeza Pro" panose="02000400000000000000" pitchFamily="2" charset="-78"/>
                <a:ea typeface="Apple Color Emoji" pitchFamily="2" charset="0"/>
                <a:cs typeface="Geeza Pro" panose="02000400000000000000" pitchFamily="2" charset="-78"/>
              </a:rPr>
              <a:t>مجموعة المحتوى الغائي </a:t>
            </a:r>
          </a:p>
        </p:txBody>
      </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164327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الاشراف العام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242120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الخطط الاستراتيجية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319913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المالية </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973660"/>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الاستثمار</a:t>
            </a:r>
            <a:endParaRPr lang="ar-SA" dirty="0"/>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4748190"/>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التوسع</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rtl="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التوسع</a:t>
            </a:r>
          </a:p>
        </p:txBody>
      </p:sp>
      <p:sp>
        <p:nvSpPr>
          <p:cNvPr id="28" name="مربع نص 27">
            <a:extLst>
              <a:ext uri="{FF2B5EF4-FFF2-40B4-BE49-F238E27FC236}">
                <a16:creationId xmlns:a16="http://schemas.microsoft.com/office/drawing/2014/main" id="{55AE173D-6AE8-F3E2-8837-DE176FC00AD2}"/>
              </a:ext>
            </a:extLst>
          </p:cNvPr>
          <p:cNvSpPr txBox="1"/>
          <p:nvPr/>
        </p:nvSpPr>
        <p:spPr>
          <a:xfrm>
            <a:off x="3182157" y="1874717"/>
            <a:ext cx="8148908" cy="2862322"/>
          </a:xfrm>
          <a:prstGeom prst="rect">
            <a:avLst/>
          </a:prstGeom>
        </p:spPr>
        <p:txBody>
          <a:bodyPr wrap="square">
            <a:spAutoFit/>
          </a:bodyPr>
          <a:lstStyle/>
          <a:p>
            <a:pPr marL="342900" indent="-342900" algn="justLow" rtl="1">
              <a:buFont typeface="+mj-lt"/>
              <a:buAutoNum type="arabicPeriod"/>
            </a:pPr>
            <a:r>
              <a:rPr lang="ar-SA" b="1" dirty="0">
                <a:latin typeface="29LT Azer Extra Light" pitchFamily="2" charset="-78"/>
                <a:cs typeface="29LT Azer Extra Light" pitchFamily="2" charset="-78"/>
              </a:rPr>
              <a:t>تحديد فرص النمو:</a:t>
            </a:r>
          </a:p>
          <a:p>
            <a:pPr marL="342900" indent="-342900" algn="justLow" rtl="1">
              <a:buFont typeface="+mj-lt"/>
              <a:buAutoNum type="arabicPeriod"/>
            </a:pPr>
            <a:r>
              <a:rPr lang="ar-SA" b="1" dirty="0">
                <a:latin typeface="29LT Azer Extra Light" pitchFamily="2" charset="-78"/>
                <a:cs typeface="29LT Azer Extra Light" pitchFamily="2" charset="-78"/>
              </a:rPr>
              <a:t>تحليل السوق:</a:t>
            </a:r>
          </a:p>
          <a:p>
            <a:pPr marL="342900" indent="-342900" algn="justLow" rtl="1">
              <a:buFont typeface="+mj-lt"/>
              <a:buAutoNum type="arabicPeriod"/>
            </a:pPr>
            <a:r>
              <a:rPr lang="ar-SA" b="1" dirty="0">
                <a:latin typeface="29LT Azer Extra Light" pitchFamily="2" charset="-78"/>
                <a:cs typeface="29LT Azer Extra Light" pitchFamily="2" charset="-78"/>
              </a:rPr>
              <a:t>تحديد المنتجات والخدمات الجديدة</a:t>
            </a:r>
          </a:p>
          <a:p>
            <a:pPr marL="342900" indent="-342900" algn="justLow" rtl="1">
              <a:buFont typeface="+mj-lt"/>
              <a:buAutoNum type="arabicPeriod"/>
            </a:pPr>
            <a:r>
              <a:rPr lang="ar-SA" b="1" dirty="0">
                <a:latin typeface="29LT Azer Extra Light" pitchFamily="2" charset="-78"/>
                <a:cs typeface="29LT Azer Extra Light" pitchFamily="2" charset="-78"/>
              </a:rPr>
              <a:t>وضع الخطط الاستراتيجية للتوسع</a:t>
            </a:r>
          </a:p>
          <a:p>
            <a:pPr marL="342900" indent="-342900" algn="justLow" rtl="1">
              <a:buFont typeface="+mj-lt"/>
              <a:buAutoNum type="arabicPeriod"/>
            </a:pPr>
            <a:r>
              <a:rPr lang="ar-SA" b="1" dirty="0">
                <a:latin typeface="29LT Azer Extra Light" pitchFamily="2" charset="-78"/>
                <a:cs typeface="29LT Azer Extra Light" pitchFamily="2" charset="-78"/>
              </a:rPr>
              <a:t>تحديد الموارد المطلوبة</a:t>
            </a:r>
          </a:p>
          <a:p>
            <a:pPr marL="342900" indent="-342900" algn="justLow" rtl="1">
              <a:buFont typeface="+mj-lt"/>
              <a:buAutoNum type="arabicPeriod"/>
            </a:pPr>
            <a:r>
              <a:rPr lang="ar-SA" b="1" dirty="0">
                <a:latin typeface="29LT Azer Extra Light" pitchFamily="2" charset="-78"/>
                <a:cs typeface="29LT Azer Extra Light" pitchFamily="2" charset="-78"/>
              </a:rPr>
              <a:t>إدارة عملية التوسع </a:t>
            </a:r>
          </a:p>
          <a:p>
            <a:pPr marL="342900" indent="-342900" algn="justLow" rtl="1">
              <a:buFont typeface="+mj-lt"/>
              <a:buAutoNum type="arabicPeriod"/>
            </a:pPr>
            <a:r>
              <a:rPr lang="ar-SA" b="1" dirty="0">
                <a:latin typeface="29LT Azer Extra Light" pitchFamily="2" charset="-78"/>
                <a:cs typeface="29LT Azer Extra Light" pitchFamily="2" charset="-78"/>
              </a:rPr>
              <a:t>متابعة الأداء</a:t>
            </a:r>
          </a:p>
          <a:p>
            <a:pPr marL="342900" indent="-342900" algn="justLow" rtl="1">
              <a:buFont typeface="+mj-lt"/>
              <a:buAutoNum type="arabicPeriod"/>
            </a:pPr>
            <a:r>
              <a:rPr lang="ar-SA" b="1" dirty="0">
                <a:latin typeface="29LT Azer Extra Light" pitchFamily="2" charset="-78"/>
                <a:cs typeface="29LT Azer Extra Light" pitchFamily="2" charset="-78"/>
              </a:rPr>
              <a:t>إجراء المفاوضات</a:t>
            </a:r>
          </a:p>
          <a:p>
            <a:pPr marL="342900" indent="-342900" algn="justLow" rtl="1">
              <a:buFont typeface="+mj-lt"/>
              <a:buAutoNum type="arabicPeriod"/>
            </a:pPr>
            <a:r>
              <a:rPr lang="ar-SA" b="1" dirty="0">
                <a:latin typeface="29LT Azer Extra Light" pitchFamily="2" charset="-78"/>
                <a:cs typeface="29LT Azer Extra Light" pitchFamily="2" charset="-78"/>
              </a:rPr>
              <a:t>إدارة المخاطر</a:t>
            </a:r>
          </a:p>
          <a:p>
            <a:pPr marL="342900" indent="-342900" algn="justLow" rtl="1">
              <a:buFont typeface="+mj-lt"/>
              <a:buAutoNum type="arabicPeriod"/>
            </a:pPr>
            <a:r>
              <a:rPr lang="ar-SA" b="1" dirty="0">
                <a:latin typeface="29LT Azer Extra Light" pitchFamily="2" charset="-78"/>
                <a:cs typeface="29LT Azer Extra Light" pitchFamily="2" charset="-78"/>
              </a:rPr>
              <a:t>وضع خطط الطوارئ</a:t>
            </a:r>
          </a:p>
        </p:txBody>
      </p:sp>
    </p:spTree>
    <p:extLst>
      <p:ext uri="{BB962C8B-B14F-4D97-AF65-F5344CB8AC3E}">
        <p14:creationId xmlns:p14="http://schemas.microsoft.com/office/powerpoint/2010/main" val="4049969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5" name="مربع نص 4">
            <a:extLst>
              <a:ext uri="{FF2B5EF4-FFF2-40B4-BE49-F238E27FC236}">
                <a16:creationId xmlns:a16="http://schemas.microsoft.com/office/drawing/2014/main" id="{D5E91E37-EC98-0292-6244-0FBF5E7466E9}"/>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err="1">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الرعيات</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28" name="مربع نص 27">
            <a:extLst>
              <a:ext uri="{FF2B5EF4-FFF2-40B4-BE49-F238E27FC236}">
                <a16:creationId xmlns:a16="http://schemas.microsoft.com/office/drawing/2014/main" id="{55AE173D-6AE8-F3E2-8837-DE176FC00AD2}"/>
              </a:ext>
            </a:extLst>
          </p:cNvPr>
          <p:cNvSpPr txBox="1"/>
          <p:nvPr/>
        </p:nvSpPr>
        <p:spPr>
          <a:xfrm>
            <a:off x="3182157" y="1679973"/>
            <a:ext cx="8148908" cy="4801314"/>
          </a:xfrm>
          <a:prstGeom prst="rect">
            <a:avLst/>
          </a:prstGeom>
        </p:spPr>
        <p:txBody>
          <a:bodyPr wrap="square">
            <a:spAutoFit/>
          </a:bodyPr>
          <a:lstStyle/>
          <a:p>
            <a:pPr algn="justLow" rtl="1"/>
            <a:endParaRPr lang="ar-SA" b="1" dirty="0">
              <a:latin typeface="29LT Azer Extra Light" pitchFamily="2" charset="-78"/>
              <a:cs typeface="29LT Azer Extra Light" pitchFamily="2" charset="-78"/>
            </a:endParaRPr>
          </a:p>
          <a:p>
            <a:pPr algn="justLow" rtl="1">
              <a:buFont typeface="+mj-lt"/>
              <a:buAutoNum type="arabicPeriod"/>
            </a:pPr>
            <a:r>
              <a:rPr lang="ar-SA" b="1" dirty="0">
                <a:latin typeface="29LT Azer Extra Light" pitchFamily="2" charset="-78"/>
                <a:cs typeface="29LT Azer Extra Light" pitchFamily="2" charset="-78"/>
              </a:rPr>
              <a:t>البحث والتخطيط:</a:t>
            </a:r>
          </a:p>
          <a:p>
            <a:pPr marL="742950" lvl="1" indent="-285750" algn="justLow" rtl="1">
              <a:buFont typeface="+mj-lt"/>
              <a:buAutoNum type="arabicPeriod"/>
            </a:pPr>
            <a:r>
              <a:rPr lang="ar-SA" dirty="0">
                <a:latin typeface="29LT Azer Extra Light" pitchFamily="2" charset="-78"/>
                <a:cs typeface="29LT Azer Extra Light" pitchFamily="2" charset="-78"/>
              </a:rPr>
              <a:t>دراسة الجمهور: فهم احتياجات ورغبات الجمهور المستهدف، وتحديد اهتماماته وقنواته المفضلة.</a:t>
            </a:r>
          </a:p>
          <a:p>
            <a:pPr marL="742950" lvl="1" indent="-285750" algn="justLow" rtl="1">
              <a:buFont typeface="+mj-lt"/>
              <a:buAutoNum type="arabicPeriod"/>
            </a:pPr>
            <a:r>
              <a:rPr lang="ar-SA" dirty="0">
                <a:latin typeface="29LT Azer Extra Light" pitchFamily="2" charset="-78"/>
                <a:cs typeface="29LT Azer Extra Light" pitchFamily="2" charset="-78"/>
              </a:rPr>
              <a:t>تحليل المنافسين: دراسة محتوى المنافسين وتحديد نقاط قوتهم وضعفهم.</a:t>
            </a:r>
          </a:p>
          <a:p>
            <a:pPr marL="742950" lvl="1" indent="-285750" algn="justLow" rtl="1">
              <a:buFont typeface="+mj-lt"/>
              <a:buAutoNum type="arabicPeriod"/>
            </a:pPr>
            <a:r>
              <a:rPr lang="ar-SA" dirty="0">
                <a:latin typeface="29LT Azer Extra Light" pitchFamily="2" charset="-78"/>
                <a:cs typeface="29LT Azer Extra Light" pitchFamily="2" charset="-78"/>
              </a:rPr>
              <a:t>المؤثرين . استهداف مؤثرين وصناعة محتوى خاص بهم </a:t>
            </a:r>
          </a:p>
          <a:p>
            <a:pPr marL="742950" lvl="1" indent="-285750" algn="justLow" rtl="1">
              <a:buFont typeface="+mj-lt"/>
              <a:buAutoNum type="arabicPeriod"/>
            </a:pPr>
            <a:r>
              <a:rPr lang="ar-SA" dirty="0">
                <a:latin typeface="29LT Azer Extra Light" pitchFamily="2" charset="-78"/>
                <a:cs typeface="29LT Azer Extra Light" pitchFamily="2" charset="-78"/>
              </a:rPr>
              <a:t>تحديد الأهداف: تحديد الأهداف التي يسعى المحتوى لتحقيقها، سواء كانت زيادة المبيعات، تعزيز التفاعل، أو بناء سمعة للعلامة التجارية.</a:t>
            </a:r>
          </a:p>
          <a:p>
            <a:pPr marL="742950" lvl="1" indent="-285750" algn="justLow" rtl="1">
              <a:buFont typeface="+mj-lt"/>
              <a:buAutoNum type="arabicPeriod"/>
            </a:pPr>
            <a:r>
              <a:rPr lang="ar-SA" dirty="0">
                <a:latin typeface="29LT Azer Extra Light" pitchFamily="2" charset="-78"/>
                <a:cs typeface="29LT Azer Extra Light" pitchFamily="2" charset="-78"/>
              </a:rPr>
              <a:t>وضع استراتيجية المحتوى: تحديد نوع المحتوى الذي سيتم إنتاجه، وتوزيعه على مدار الوقت، والقنوات التي سيتم استخدامها.</a:t>
            </a:r>
          </a:p>
          <a:p>
            <a:pPr algn="justLow" rtl="1">
              <a:buFont typeface="+mj-lt"/>
              <a:buAutoNum type="arabicPeriod"/>
            </a:pPr>
            <a:r>
              <a:rPr lang="ar-SA" b="1" dirty="0">
                <a:latin typeface="29LT Azer Extra Light" pitchFamily="2" charset="-78"/>
                <a:cs typeface="29LT Azer Extra Light" pitchFamily="2" charset="-78"/>
              </a:rPr>
              <a:t>إنشاء المحتوى</a:t>
            </a:r>
            <a:r>
              <a:rPr lang="ar-SA" dirty="0">
                <a:latin typeface="29LT Azer Extra Light" pitchFamily="2" charset="-78"/>
                <a:cs typeface="29LT Azer Extra Light" pitchFamily="2" charset="-78"/>
              </a:rPr>
              <a:t>:</a:t>
            </a:r>
          </a:p>
          <a:p>
            <a:pPr marL="742950" lvl="1" indent="-285750" algn="justLow" rtl="1">
              <a:buFont typeface="+mj-lt"/>
              <a:buAutoNum type="arabicPeriod"/>
            </a:pPr>
            <a:r>
              <a:rPr lang="ar-SA" dirty="0">
                <a:latin typeface="29LT Azer Extra Light" pitchFamily="2" charset="-78"/>
                <a:cs typeface="29LT Azer Extra Light" pitchFamily="2" charset="-78"/>
              </a:rPr>
              <a:t>كتابة المحتوى: إنتاج </a:t>
            </a:r>
            <a:r>
              <a:rPr lang="ar-SA" dirty="0" err="1">
                <a:latin typeface="29LT Azer Extra Light" pitchFamily="2" charset="-78"/>
                <a:cs typeface="29LT Azer Extra Light" pitchFamily="2" charset="-78"/>
              </a:rPr>
              <a:t>برودكاستات</a:t>
            </a:r>
            <a:r>
              <a:rPr lang="ar-SA" dirty="0">
                <a:latin typeface="29LT Azer Extra Light" pitchFamily="2" charset="-78"/>
                <a:cs typeface="29LT Azer Extra Light" pitchFamily="2" charset="-78"/>
              </a:rPr>
              <a:t>، مدونات، أفلام ، </a:t>
            </a:r>
            <a:r>
              <a:rPr lang="ar-SA" dirty="0" err="1">
                <a:latin typeface="29LT Azer Extra Light" pitchFamily="2" charset="-78"/>
                <a:cs typeface="29LT Azer Extra Light" pitchFamily="2" charset="-78"/>
              </a:rPr>
              <a:t>فيديوهات،مجتمع</a:t>
            </a:r>
            <a:r>
              <a:rPr lang="ar-SA" dirty="0">
                <a:latin typeface="29LT Azer Extra Light" pitchFamily="2" charset="-78"/>
                <a:cs typeface="29LT Azer Extra Light" pitchFamily="2" charset="-78"/>
              </a:rPr>
              <a:t> </a:t>
            </a:r>
          </a:p>
          <a:p>
            <a:pPr marL="742950" lvl="1" indent="-285750" algn="justLow" rtl="1">
              <a:buFont typeface="+mj-lt"/>
              <a:buAutoNum type="arabicPeriod"/>
            </a:pPr>
            <a:r>
              <a:rPr lang="ar-SA" dirty="0">
                <a:latin typeface="29LT Azer Extra Light" pitchFamily="2" charset="-78"/>
                <a:cs typeface="29LT Azer Extra Light" pitchFamily="2" charset="-78"/>
              </a:rPr>
              <a:t>تصميم المحتوى المرئي: إنتاج مقاطع فيديو، رسوم متحركة، صور، </a:t>
            </a:r>
            <a:r>
              <a:rPr lang="ar-SA" dirty="0" err="1">
                <a:latin typeface="29LT Azer Extra Light" pitchFamily="2" charset="-78"/>
                <a:cs typeface="29LT Azer Extra Light" pitchFamily="2" charset="-78"/>
              </a:rPr>
              <a:t>وإنفوجرافيك</a:t>
            </a:r>
            <a:r>
              <a:rPr lang="ar-SA" dirty="0">
                <a:latin typeface="29LT Azer Extra Light" pitchFamily="2" charset="-78"/>
                <a:cs typeface="29LT Azer Extra Light" pitchFamily="2" charset="-78"/>
              </a:rPr>
              <a:t>.</a:t>
            </a:r>
          </a:p>
          <a:p>
            <a:pPr marL="742950" lvl="1" indent="-285750" algn="justLow" rtl="1">
              <a:buFont typeface="+mj-lt"/>
              <a:buAutoNum type="arabicPeriod"/>
            </a:pPr>
            <a:r>
              <a:rPr lang="ar-SA" dirty="0">
                <a:latin typeface="29LT Azer Extra Light" pitchFamily="2" charset="-78"/>
                <a:cs typeface="29LT Azer Extra Light" pitchFamily="2" charset="-78"/>
              </a:rPr>
              <a:t>إنتاج المحتوى الصوتي: إنتاج </a:t>
            </a:r>
            <a:r>
              <a:rPr lang="ar-SA" dirty="0" err="1">
                <a:latin typeface="29LT Azer Extra Light" pitchFamily="2" charset="-78"/>
                <a:cs typeface="29LT Azer Extra Light" pitchFamily="2" charset="-78"/>
              </a:rPr>
              <a:t>بودكاست</a:t>
            </a:r>
            <a:r>
              <a:rPr lang="ar-SA" dirty="0">
                <a:latin typeface="29LT Azer Extra Light" pitchFamily="2" charset="-78"/>
                <a:cs typeface="29LT Azer Extra Light" pitchFamily="2" charset="-78"/>
              </a:rPr>
              <a:t>، صوتيات تسويقية.</a:t>
            </a:r>
          </a:p>
          <a:p>
            <a:pPr algn="justLow" rtl="1">
              <a:buFont typeface="+mj-lt"/>
              <a:buAutoNum type="arabicPeriod"/>
            </a:pPr>
            <a:r>
              <a:rPr lang="ar-SA" b="1" dirty="0">
                <a:latin typeface="29LT Azer Extra Light" pitchFamily="2" charset="-78"/>
                <a:cs typeface="29LT Azer Extra Light" pitchFamily="2" charset="-78"/>
              </a:rPr>
              <a:t>تحرير المحتوى:</a:t>
            </a:r>
          </a:p>
          <a:p>
            <a:pPr marL="742950" lvl="1" indent="-285750" algn="justLow" rtl="1">
              <a:buFont typeface="+mj-lt"/>
              <a:buAutoNum type="arabicPeriod"/>
            </a:pPr>
            <a:r>
              <a:rPr lang="ar-SA" dirty="0">
                <a:latin typeface="29LT Azer Extra Light" pitchFamily="2" charset="-78"/>
                <a:cs typeface="29LT Azer Extra Light" pitchFamily="2" charset="-78"/>
              </a:rPr>
              <a:t>مراجعة المحتوى: التأكد من دقة المعلومات، ووضوح الرسائل، واتباع قواعد اللغة والإملاء.</a:t>
            </a:r>
          </a:p>
          <a:p>
            <a:pPr marL="742950" lvl="1" indent="-285750" algn="justLow" rtl="1">
              <a:buFont typeface="+mj-lt"/>
              <a:buAutoNum type="arabicPeriod"/>
            </a:pPr>
            <a:r>
              <a:rPr lang="ar-SA" dirty="0">
                <a:latin typeface="29LT Azer Extra Light" pitchFamily="2" charset="-78"/>
                <a:cs typeface="29LT Azer Extra Light" pitchFamily="2" charset="-78"/>
              </a:rPr>
              <a:t>التحرير: تحرير المحتوى لضمان انسجامه مع أهداف الاستراتيجية.</a:t>
            </a: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8" name="مربع نص 7">
            <a:extLst>
              <a:ext uri="{FF2B5EF4-FFF2-40B4-BE49-F238E27FC236}">
                <a16:creationId xmlns:a16="http://schemas.microsoft.com/office/drawing/2014/main" id="{947DE06C-E9B6-8A16-B159-4B12F1F00C5C}"/>
              </a:ext>
            </a:extLst>
          </p:cNvPr>
          <p:cNvSpPr txBox="1"/>
          <p:nvPr/>
        </p:nvSpPr>
        <p:spPr>
          <a:xfrm>
            <a:off x="3552497" y="4193044"/>
            <a:ext cx="1658310" cy="507831"/>
          </a:xfrm>
          <a:prstGeom prst="rect">
            <a:avLst/>
          </a:prstGeom>
          <a:noFill/>
        </p:spPr>
        <p:txBody>
          <a:bodyPr wrap="square">
            <a:spAutoFit/>
          </a:bodyPr>
          <a:lstStyle/>
          <a:p>
            <a:pPr marL="285750" indent="-285750" algn="r" defTabSz="914400" rtl="1" eaLnBrk="1" latinLnBrk="0" hangingPunct="1">
              <a:buFontTx/>
              <a:buChar char="-"/>
            </a:pPr>
            <a:r>
              <a:rPr lang="ar-SA" sz="9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a:t>
            </a:r>
          </a:p>
          <a:p>
            <a:pPr marL="285750" indent="-285750" algn="r" defTabSz="914400" rtl="1" eaLnBrk="1" latinLnBrk="0" hangingPunct="1">
              <a:buFontTx/>
              <a:buChar char="-"/>
            </a:pPr>
            <a:r>
              <a:rPr lang="ar-SA" sz="9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 </a:t>
            </a:r>
          </a:p>
          <a:p>
            <a:pPr marL="285750" indent="-285750" algn="r" defTabSz="914400" rtl="1" eaLnBrk="1" latinLnBrk="0" hangingPunct="1">
              <a:buFontTx/>
              <a:buChar char="-"/>
            </a:pPr>
            <a:endParaRPr lang="ar-SA" sz="9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endParaRPr>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Tree>
    <p:extLst>
      <p:ext uri="{BB962C8B-B14F-4D97-AF65-F5344CB8AC3E}">
        <p14:creationId xmlns:p14="http://schemas.microsoft.com/office/powerpoint/2010/main" val="645465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err="1">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الرعيات</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28" name="مربع نص 27">
            <a:extLst>
              <a:ext uri="{FF2B5EF4-FFF2-40B4-BE49-F238E27FC236}">
                <a16:creationId xmlns:a16="http://schemas.microsoft.com/office/drawing/2014/main" id="{55AE173D-6AE8-F3E2-8837-DE176FC00AD2}"/>
              </a:ext>
            </a:extLst>
          </p:cNvPr>
          <p:cNvSpPr txBox="1"/>
          <p:nvPr/>
        </p:nvSpPr>
        <p:spPr>
          <a:xfrm>
            <a:off x="3182157" y="1679973"/>
            <a:ext cx="8148908" cy="3139321"/>
          </a:xfrm>
          <a:prstGeom prst="rect">
            <a:avLst/>
          </a:prstGeom>
        </p:spPr>
        <p:txBody>
          <a:bodyPr wrap="square">
            <a:spAutoFit/>
          </a:bodyPr>
          <a:lstStyle/>
          <a:p>
            <a:pPr marL="742950" lvl="1" indent="-285750" algn="justLow" rtl="1">
              <a:buFont typeface="+mj-lt"/>
              <a:buAutoNum type="arabicPeriod"/>
            </a:pPr>
            <a:endParaRPr lang="ar-SA" dirty="0">
              <a:latin typeface="29LT Azer Extra Light" pitchFamily="2" charset="-78"/>
              <a:cs typeface="29LT Azer Extra Light" pitchFamily="2" charset="-78"/>
            </a:endParaRPr>
          </a:p>
          <a:p>
            <a:pPr algn="justLow" rtl="1"/>
            <a:r>
              <a:rPr lang="en-US" b="1" dirty="0">
                <a:latin typeface="29LT Azer Extra Light" pitchFamily="2" charset="-78"/>
                <a:cs typeface="29LT Azer Extra Light" pitchFamily="2" charset="-78"/>
              </a:rPr>
              <a:t>.4</a:t>
            </a:r>
            <a:r>
              <a:rPr lang="ar-SA" b="1" dirty="0">
                <a:latin typeface="29LT Azer Extra Light" pitchFamily="2" charset="-78"/>
                <a:cs typeface="29LT Azer Extra Light" pitchFamily="2" charset="-78"/>
              </a:rPr>
              <a:t>نشر المحتوى:</a:t>
            </a:r>
          </a:p>
          <a:p>
            <a:pPr marL="742950" lvl="1" indent="-285750" algn="justLow" rtl="1">
              <a:buFont typeface="+mj-lt"/>
              <a:buAutoNum type="arabicPeriod"/>
            </a:pPr>
            <a:r>
              <a:rPr lang="ar-SA" dirty="0">
                <a:latin typeface="29LT Azer Extra Light" pitchFamily="2" charset="-78"/>
                <a:cs typeface="29LT Azer Extra Light" pitchFamily="2" charset="-78"/>
              </a:rPr>
              <a:t>اختيار القنوات: اختيار القنوات المناسبة لنشر المحتوى، مثل مواقع التواصل الاجتماعي، المدونة، موقع الويب، البريد الإلكتروني.</a:t>
            </a:r>
          </a:p>
          <a:p>
            <a:pPr marL="742950" lvl="1" indent="-285750" algn="justLow" rtl="1">
              <a:buFont typeface="+mj-lt"/>
              <a:buAutoNum type="arabicPeriod"/>
            </a:pPr>
            <a:r>
              <a:rPr lang="ar-SA" dirty="0">
                <a:latin typeface="29LT Azer Extra Light" pitchFamily="2" charset="-78"/>
                <a:cs typeface="29LT Azer Extra Light" pitchFamily="2" charset="-78"/>
              </a:rPr>
              <a:t>جدولة النشر: تحديد أفضل الأوقات لنشر المحتوى لضمان وصوله إلى أكبر عدد ممكن من الجمهور.</a:t>
            </a:r>
          </a:p>
          <a:p>
            <a:pPr marL="742950" lvl="1" indent="-285750" algn="justLow" rtl="1">
              <a:buFont typeface="+mj-lt"/>
              <a:buAutoNum type="arabicPeriod"/>
            </a:pPr>
            <a:r>
              <a:rPr lang="ar-SA" dirty="0">
                <a:latin typeface="29LT Azer Extra Light" pitchFamily="2" charset="-78"/>
                <a:cs typeface="29LT Azer Extra Light" pitchFamily="2" charset="-78"/>
              </a:rPr>
              <a:t>توزيع المحتوى: توزيع المحتوى على مختلف القنوات المحددة.</a:t>
            </a:r>
          </a:p>
          <a:p>
            <a:pPr algn="justLow" rtl="1"/>
            <a:r>
              <a:rPr lang="en-US" b="1" dirty="0">
                <a:latin typeface="29LT Azer Extra Light" pitchFamily="2" charset="-78"/>
                <a:cs typeface="29LT Azer Extra Light" pitchFamily="2" charset="-78"/>
              </a:rPr>
              <a:t>.5</a:t>
            </a:r>
            <a:r>
              <a:rPr lang="ar-SA" b="1" dirty="0">
                <a:latin typeface="29LT Azer Extra Light" pitchFamily="2" charset="-78"/>
                <a:cs typeface="29LT Azer Extra Light" pitchFamily="2" charset="-78"/>
              </a:rPr>
              <a:t>التحليل والتقييم:</a:t>
            </a:r>
          </a:p>
          <a:p>
            <a:pPr marL="742950" lvl="1" indent="-285750" algn="justLow" rtl="1">
              <a:buFont typeface="+mj-lt"/>
              <a:buAutoNum type="arabicPeriod"/>
            </a:pPr>
            <a:r>
              <a:rPr lang="ar-SA" dirty="0">
                <a:latin typeface="29LT Azer Extra Light" pitchFamily="2" charset="-78"/>
                <a:cs typeface="29LT Azer Extra Light" pitchFamily="2" charset="-78"/>
              </a:rPr>
              <a:t>قياس الأداء: قياس أداء المحتوى باستخدام الأدوات التحليلية المتاحة.</a:t>
            </a:r>
          </a:p>
          <a:p>
            <a:pPr marL="742950" lvl="1" indent="-285750" algn="justLow" rtl="1">
              <a:buFont typeface="+mj-lt"/>
              <a:buAutoNum type="arabicPeriod"/>
            </a:pPr>
            <a:r>
              <a:rPr lang="ar-SA" dirty="0">
                <a:latin typeface="29LT Azer Extra Light" pitchFamily="2" charset="-78"/>
                <a:cs typeface="29LT Azer Extra Light" pitchFamily="2" charset="-78"/>
              </a:rPr>
              <a:t>تقييم النتائج: تقييم مدى تحقيق الأهداف المحددة.</a:t>
            </a:r>
          </a:p>
          <a:p>
            <a:pPr marL="742950" lvl="1" indent="-285750" algn="justLow" rtl="1">
              <a:buFont typeface="+mj-lt"/>
              <a:buAutoNum type="arabicPeriod"/>
            </a:pPr>
            <a:r>
              <a:rPr lang="ar-SA" dirty="0">
                <a:latin typeface="29LT Azer Extra Light" pitchFamily="2" charset="-78"/>
                <a:cs typeface="29LT Azer Extra Light" pitchFamily="2" charset="-78"/>
              </a:rPr>
              <a:t>التحسين المستمر: إجراء التعديلات اللازمة على استراتيجية المحتوى بناءً على النتائج.</a:t>
            </a: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
        <p:nvSpPr>
          <p:cNvPr id="9" name="مربع نص 8">
            <a:extLst>
              <a:ext uri="{FF2B5EF4-FFF2-40B4-BE49-F238E27FC236}">
                <a16:creationId xmlns:a16="http://schemas.microsoft.com/office/drawing/2014/main" id="{D12828F2-30C3-D73C-FB3B-4043B3ED2DD9}"/>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Tree>
    <p:extLst>
      <p:ext uri="{BB962C8B-B14F-4D97-AF65-F5344CB8AC3E}">
        <p14:creationId xmlns:p14="http://schemas.microsoft.com/office/powerpoint/2010/main" val="1788149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err="1">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الرعيات</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a:t>
            </a:r>
          </a:p>
        </p:txBody>
      </p:sp>
      <p:sp>
        <p:nvSpPr>
          <p:cNvPr id="28" name="مربع نص 27">
            <a:extLst>
              <a:ext uri="{FF2B5EF4-FFF2-40B4-BE49-F238E27FC236}">
                <a16:creationId xmlns:a16="http://schemas.microsoft.com/office/drawing/2014/main" id="{55AE173D-6AE8-F3E2-8837-DE176FC00AD2}"/>
              </a:ext>
            </a:extLst>
          </p:cNvPr>
          <p:cNvSpPr txBox="1"/>
          <p:nvPr/>
        </p:nvSpPr>
        <p:spPr>
          <a:xfrm>
            <a:off x="3085154" y="1692967"/>
            <a:ext cx="8148908" cy="3693319"/>
          </a:xfrm>
          <a:prstGeom prst="rect">
            <a:avLst/>
          </a:prstGeom>
        </p:spPr>
        <p:txBody>
          <a:bodyPr wrap="square">
            <a:spAutoFit/>
          </a:bodyPr>
          <a:lstStyle/>
          <a:p>
            <a:pPr algn="justLow" rtl="1"/>
            <a:r>
              <a:rPr lang="en-US" u="none" strike="noStrike" dirty="0">
                <a:solidFill>
                  <a:srgbClr val="000000"/>
                </a:solidFill>
                <a:effectLst/>
                <a:latin typeface="29LT Azer Extra Light" pitchFamily="2" charset="-78"/>
                <a:cs typeface="29LT Azer Extra Light" pitchFamily="2" charset="-78"/>
              </a:rPr>
              <a:t>.1 </a:t>
            </a:r>
            <a:r>
              <a:rPr lang="ar-SA" b="1" u="none" strike="noStrike" dirty="0">
                <a:solidFill>
                  <a:srgbClr val="000000"/>
                </a:solidFill>
                <a:effectLst/>
                <a:latin typeface="29LT Azer Extra Light" pitchFamily="2" charset="-78"/>
                <a:cs typeface="29LT Azer Extra Light" pitchFamily="2" charset="-78"/>
              </a:rPr>
              <a:t>تطوير المنتج:</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إنشاء خارطة طريق للمنتج: تحديد المراحل المختلفة لتطوير المنتج والجداول الزمنية لكل مرحلة.</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تحديد الميزات والوظائف: تحديد الميزات الأساسية التي سيتم تضمينها في المنتج.</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التعاون مع الفرق المختلفة: العمل مع فرق التصميم، التطوير، والكتابة لضمان تنفيذ المنتج بشكل صحيح.</a:t>
            </a:r>
          </a:p>
          <a:p>
            <a:pPr algn="justLow" rtl="1"/>
            <a:r>
              <a:rPr lang="ar-SA" u="none" strike="noStrike" dirty="0">
                <a:solidFill>
                  <a:srgbClr val="000000"/>
                </a:solidFill>
                <a:effectLst/>
                <a:latin typeface="29LT Azer Extra Light" pitchFamily="2" charset="-78"/>
                <a:cs typeface="29LT Azer Extra Light" pitchFamily="2" charset="-78"/>
              </a:rPr>
              <a:t>3</a:t>
            </a:r>
            <a:r>
              <a:rPr lang="ar-SA" b="1" u="none" strike="noStrike" dirty="0">
                <a:solidFill>
                  <a:srgbClr val="000000"/>
                </a:solidFill>
                <a:effectLst/>
                <a:latin typeface="29LT Azer Extra Light" pitchFamily="2" charset="-78"/>
                <a:cs typeface="29LT Azer Extra Light" pitchFamily="2" charset="-78"/>
              </a:rPr>
              <a:t>. إطلاق المنتج:</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التسويق للمنتج: تطوير استراتيجية تسويقية فعالة لإطلاق المنتج.</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تحديد قنوات التوزيع: اختيار القنوات المناسبة للتوزيع، مثل مواقع التواصل الاجتماعي، المدونات، البريد الإلكتروني. الموقع</a:t>
            </a:r>
            <a:r>
              <a:rPr lang="ar-SA" dirty="0">
                <a:solidFill>
                  <a:srgbClr val="000000"/>
                </a:solidFill>
                <a:latin typeface="29LT Azer Extra Light" pitchFamily="2" charset="-78"/>
                <a:cs typeface="29LT Azer Extra Light" pitchFamily="2" charset="-78"/>
              </a:rPr>
              <a:t> الرسمي</a:t>
            </a:r>
            <a:endParaRPr lang="ar-SA" u="none" strike="noStrike" dirty="0">
              <a:solidFill>
                <a:srgbClr val="000000"/>
              </a:solidFill>
              <a:effectLst/>
              <a:latin typeface="29LT Azer Extra Light" pitchFamily="2" charset="-78"/>
              <a:cs typeface="29LT Azer Extra Light" pitchFamily="2" charset="-78"/>
            </a:endParaRP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متابعة الملاحظات: متابعة ملاحظات المستخدمين وتقييم مدى نجاح المنتج.</a:t>
            </a:r>
          </a:p>
          <a:p>
            <a:pPr algn="justLow" rtl="1"/>
            <a:r>
              <a:rPr lang="ar-SA" u="none" strike="noStrike" dirty="0">
                <a:solidFill>
                  <a:srgbClr val="000000"/>
                </a:solidFill>
                <a:effectLst/>
                <a:latin typeface="29LT Azer Extra Light" pitchFamily="2" charset="-78"/>
                <a:cs typeface="29LT Azer Extra Light" pitchFamily="2" charset="-78"/>
              </a:rPr>
              <a:t>4</a:t>
            </a:r>
            <a:r>
              <a:rPr lang="ar-SA" b="1" u="none" strike="noStrike" dirty="0">
                <a:solidFill>
                  <a:srgbClr val="000000"/>
                </a:solidFill>
                <a:effectLst/>
                <a:latin typeface="29LT Azer Extra Light" pitchFamily="2" charset="-78"/>
                <a:cs typeface="29LT Azer Extra Light" pitchFamily="2" charset="-78"/>
              </a:rPr>
              <a:t>. تحسين المنتج:</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تحليل البيانات: تحليل البيانات المتعلقة بأداء المنتج لتحديد نقاط التحسين.</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إجراء التعديلات: إجراء التعديلات اللازمة على المنتج لتحسين أدائه.</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تطوير المنتج بشكل مستمر: مواكبة التغيرات في السوق وتطوير المنتج بشكل مستمر.</a:t>
            </a: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
        <p:nvSpPr>
          <p:cNvPr id="8" name="مربع نص 7">
            <a:extLst>
              <a:ext uri="{FF2B5EF4-FFF2-40B4-BE49-F238E27FC236}">
                <a16:creationId xmlns:a16="http://schemas.microsoft.com/office/drawing/2014/main" id="{BE763F25-601C-D2B9-4075-AE7D6FA305C5}"/>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Tree>
    <p:extLst>
      <p:ext uri="{BB962C8B-B14F-4D97-AF65-F5344CB8AC3E}">
        <p14:creationId xmlns:p14="http://schemas.microsoft.com/office/powerpoint/2010/main" val="3149932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err="1">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الرعيات</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a:t>
            </a: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
        <p:nvSpPr>
          <p:cNvPr id="9" name="مربع نص 8">
            <a:extLst>
              <a:ext uri="{FF2B5EF4-FFF2-40B4-BE49-F238E27FC236}">
                <a16:creationId xmlns:a16="http://schemas.microsoft.com/office/drawing/2014/main" id="{76F77893-F246-F772-C67E-12E08D84E192}"/>
              </a:ext>
            </a:extLst>
          </p:cNvPr>
          <p:cNvSpPr txBox="1"/>
          <p:nvPr/>
        </p:nvSpPr>
        <p:spPr>
          <a:xfrm>
            <a:off x="4290848" y="2010424"/>
            <a:ext cx="6374524" cy="2308324"/>
          </a:xfrm>
          <a:prstGeom prst="rect">
            <a:avLst/>
          </a:prstGeom>
          <a:noFill/>
        </p:spPr>
        <p:txBody>
          <a:bodyPr wrap="square">
            <a:spAutoFit/>
          </a:bodyPr>
          <a:lstStyle/>
          <a:p>
            <a:pPr algn="justLow" rtl="1"/>
            <a:endParaRPr lang="ar-SA" u="none" strike="noStrike" dirty="0">
              <a:solidFill>
                <a:srgbClr val="000000"/>
              </a:solidFill>
              <a:effectLst/>
              <a:latin typeface="29LT Azer Extra Light" pitchFamily="2" charset="-78"/>
              <a:cs typeface="29LT Azer Extra Light" pitchFamily="2" charset="-78"/>
            </a:endParaRPr>
          </a:p>
          <a:p>
            <a:pPr algn="justLow" rtl="1"/>
            <a:r>
              <a:rPr lang="ar-SA" b="1" u="none" strike="noStrike" dirty="0">
                <a:solidFill>
                  <a:srgbClr val="000000"/>
                </a:solidFill>
                <a:effectLst/>
                <a:latin typeface="29LT Azer Extra Light" pitchFamily="2" charset="-78"/>
                <a:cs typeface="29LT Azer Extra Light" pitchFamily="2" charset="-78"/>
              </a:rPr>
              <a:t>أمثلة على المنتجات التي يمكن تطويرها في مجال المحتوى:</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الدورات التدريبية </a:t>
            </a:r>
          </a:p>
          <a:p>
            <a:pPr algn="justLow" rtl="1">
              <a:buFont typeface="Arial" panose="020B0604020202020204" pitchFamily="34" charset="0"/>
              <a:buChar char="•"/>
            </a:pPr>
            <a:r>
              <a:rPr lang="ar-SA" dirty="0">
                <a:solidFill>
                  <a:srgbClr val="000000"/>
                </a:solidFill>
                <a:latin typeface="29LT Azer Extra Light" pitchFamily="2" charset="-78"/>
                <a:cs typeface="29LT Azer Extra Light" pitchFamily="2" charset="-78"/>
              </a:rPr>
              <a:t>المجتمع الغائي </a:t>
            </a:r>
            <a:endParaRPr lang="ar-SA" u="none" strike="noStrike" dirty="0">
              <a:solidFill>
                <a:srgbClr val="000000"/>
              </a:solidFill>
              <a:effectLst/>
              <a:latin typeface="29LT Azer Extra Light" pitchFamily="2" charset="-78"/>
              <a:cs typeface="29LT Azer Extra Light" pitchFamily="2" charset="-78"/>
            </a:endParaRP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التطبيقات التعليمي</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المنتجات الرقمية</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المحتوى المدفوع: مثل الاشتراكات الشهرية في المحتوى الحصري.</a:t>
            </a:r>
          </a:p>
          <a:p>
            <a:pPr algn="justLow" rtl="1"/>
            <a:endParaRPr lang="ar-SA" dirty="0"/>
          </a:p>
        </p:txBody>
      </p:sp>
      <p:sp>
        <p:nvSpPr>
          <p:cNvPr id="10" name="مربع نص 9">
            <a:extLst>
              <a:ext uri="{FF2B5EF4-FFF2-40B4-BE49-F238E27FC236}">
                <a16:creationId xmlns:a16="http://schemas.microsoft.com/office/drawing/2014/main" id="{785CE0F0-FCAD-930D-053B-292A4DFC13DD}"/>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Tree>
    <p:extLst>
      <p:ext uri="{BB962C8B-B14F-4D97-AF65-F5344CB8AC3E}">
        <p14:creationId xmlns:p14="http://schemas.microsoft.com/office/powerpoint/2010/main" val="120007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err="1">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الرعيات</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
        <p:nvSpPr>
          <p:cNvPr id="9" name="مربع نص 8">
            <a:extLst>
              <a:ext uri="{FF2B5EF4-FFF2-40B4-BE49-F238E27FC236}">
                <a16:creationId xmlns:a16="http://schemas.microsoft.com/office/drawing/2014/main" id="{76F77893-F246-F772-C67E-12E08D84E192}"/>
              </a:ext>
            </a:extLst>
          </p:cNvPr>
          <p:cNvSpPr txBox="1"/>
          <p:nvPr/>
        </p:nvSpPr>
        <p:spPr>
          <a:xfrm>
            <a:off x="4290848" y="2010424"/>
            <a:ext cx="6374524" cy="2031325"/>
          </a:xfrm>
          <a:prstGeom prst="rect">
            <a:avLst/>
          </a:prstGeom>
          <a:noFill/>
        </p:spPr>
        <p:txBody>
          <a:bodyPr wrap="square">
            <a:spAutoFit/>
          </a:bodyPr>
          <a:lstStyle/>
          <a:p>
            <a:pPr algn="justLow" rtl="1"/>
            <a:r>
              <a:rPr lang="ar-SA" b="1" u="none" strike="noStrike" dirty="0">
                <a:solidFill>
                  <a:srgbClr val="000000"/>
                </a:solidFill>
                <a:effectLst/>
                <a:latin typeface="29LT Azer Extra Light" pitchFamily="2" charset="-78"/>
                <a:cs typeface="29LT Azer Extra Light" pitchFamily="2" charset="-78"/>
              </a:rPr>
              <a:t>تحسين صورة الشركة:</a:t>
            </a:r>
          </a:p>
          <a:p>
            <a:pPr algn="justLow" rtl="1">
              <a:buFont typeface="Arial" panose="020B0604020202020204" pitchFamily="34" charset="0"/>
              <a:buChar char="•"/>
            </a:pPr>
            <a:r>
              <a:rPr lang="ar-SA" b="1" u="none" strike="noStrike" dirty="0">
                <a:solidFill>
                  <a:srgbClr val="000000"/>
                </a:solidFill>
                <a:effectLst/>
                <a:latin typeface="29LT Azer Extra Light" pitchFamily="2" charset="-78"/>
                <a:cs typeface="29LT Azer Extra Light" pitchFamily="2" charset="-78"/>
              </a:rPr>
              <a:t>بناء العلامة التجارية:</a:t>
            </a:r>
            <a:r>
              <a:rPr lang="ar-SA" u="none" strike="noStrike" dirty="0">
                <a:solidFill>
                  <a:srgbClr val="000000"/>
                </a:solidFill>
                <a:effectLst/>
                <a:latin typeface="29LT Azer Extra Light" pitchFamily="2" charset="-78"/>
                <a:cs typeface="29LT Azer Extra Light" pitchFamily="2" charset="-78"/>
              </a:rPr>
              <a:t> تعزيز صورة الشركة كعلامة تجارية قوية وموثوقة.</a:t>
            </a:r>
          </a:p>
          <a:p>
            <a:pPr algn="justLow" rtl="1">
              <a:buFont typeface="Arial" panose="020B0604020202020204" pitchFamily="34" charset="0"/>
              <a:buChar char="•"/>
            </a:pPr>
            <a:r>
              <a:rPr lang="ar-SA" b="1" u="none" strike="noStrike" dirty="0">
                <a:solidFill>
                  <a:srgbClr val="000000"/>
                </a:solidFill>
                <a:effectLst/>
                <a:latin typeface="29LT Azer Extra Light" pitchFamily="2" charset="-78"/>
                <a:cs typeface="29LT Azer Extra Light" pitchFamily="2" charset="-78"/>
              </a:rPr>
              <a:t>علاقات المستثمرين: </a:t>
            </a:r>
            <a:r>
              <a:rPr lang="ar-SA" u="none" strike="noStrike" dirty="0">
                <a:solidFill>
                  <a:srgbClr val="000000"/>
                </a:solidFill>
                <a:effectLst/>
                <a:latin typeface="29LT Azer Extra Light" pitchFamily="2" charset="-78"/>
                <a:cs typeface="29LT Azer Extra Light" pitchFamily="2" charset="-78"/>
              </a:rPr>
              <a:t>بناء علاقات قوية مع المستثمرين الحاليين والجدد.</a:t>
            </a:r>
          </a:p>
          <a:p>
            <a:pPr algn="justLow" rtl="1">
              <a:buFont typeface="Arial" panose="020B0604020202020204" pitchFamily="34" charset="0"/>
              <a:buChar char="•"/>
            </a:pPr>
            <a:r>
              <a:rPr lang="ar-SA" b="1" u="none" strike="noStrike" dirty="0">
                <a:solidFill>
                  <a:srgbClr val="000000"/>
                </a:solidFill>
                <a:effectLst/>
                <a:latin typeface="29LT Azer Extra Light" pitchFamily="2" charset="-78"/>
                <a:cs typeface="29LT Azer Extra Light" pitchFamily="2" charset="-78"/>
              </a:rPr>
              <a:t>التواصل الاستراتيجي: </a:t>
            </a:r>
            <a:r>
              <a:rPr lang="ar-SA" u="none" strike="noStrike" dirty="0">
                <a:solidFill>
                  <a:srgbClr val="000000"/>
                </a:solidFill>
                <a:effectLst/>
                <a:latin typeface="29LT Azer Extra Light" pitchFamily="2" charset="-78"/>
                <a:cs typeface="29LT Azer Extra Light" pitchFamily="2" charset="-78"/>
              </a:rPr>
              <a:t>نشر معلومات دقيقة وشفافة حول الشركة للمستثمرين والجمهور العام.</a:t>
            </a:r>
          </a:p>
          <a:p>
            <a:pPr algn="justLow" rtl="1">
              <a:buFont typeface="Arial" panose="020B0604020202020204" pitchFamily="34" charset="0"/>
              <a:buChar char="•"/>
            </a:pPr>
            <a:r>
              <a:rPr lang="ar-SA" b="1" u="none" strike="noStrike" dirty="0">
                <a:solidFill>
                  <a:srgbClr val="000000"/>
                </a:solidFill>
                <a:effectLst/>
                <a:latin typeface="29LT Azer Extra Light" pitchFamily="2" charset="-78"/>
                <a:cs typeface="29LT Azer Extra Light" pitchFamily="2" charset="-78"/>
              </a:rPr>
              <a:t>إدارة الأزمات: </a:t>
            </a:r>
            <a:r>
              <a:rPr lang="ar-SA" u="none" strike="noStrike" dirty="0">
                <a:solidFill>
                  <a:srgbClr val="000000"/>
                </a:solidFill>
                <a:effectLst/>
                <a:latin typeface="29LT Azer Extra Light" pitchFamily="2" charset="-78"/>
                <a:cs typeface="29LT Azer Extra Light" pitchFamily="2" charset="-78"/>
              </a:rPr>
              <a:t>التعامل بفعالية مع أي أزمات قد تؤثر على سمعة الشركة.</a:t>
            </a:r>
          </a:p>
          <a:p>
            <a:pPr algn="justLow" rtl="1"/>
            <a:endParaRPr lang="ar-SA" dirty="0"/>
          </a:p>
        </p:txBody>
      </p:sp>
      <p:sp>
        <p:nvSpPr>
          <p:cNvPr id="8" name="مربع نص 7">
            <a:extLst>
              <a:ext uri="{FF2B5EF4-FFF2-40B4-BE49-F238E27FC236}">
                <a16:creationId xmlns:a16="http://schemas.microsoft.com/office/drawing/2014/main" id="{91030147-B5CF-B4D3-74B5-29D2BC0B33AA}"/>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Tree>
    <p:extLst>
      <p:ext uri="{BB962C8B-B14F-4D97-AF65-F5344CB8AC3E}">
        <p14:creationId xmlns:p14="http://schemas.microsoft.com/office/powerpoint/2010/main" val="1427740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err="1">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الرعيات</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الجمهور</a:t>
            </a: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
        <p:nvSpPr>
          <p:cNvPr id="9" name="مربع نص 8">
            <a:extLst>
              <a:ext uri="{FF2B5EF4-FFF2-40B4-BE49-F238E27FC236}">
                <a16:creationId xmlns:a16="http://schemas.microsoft.com/office/drawing/2014/main" id="{76F77893-F246-F772-C67E-12E08D84E192}"/>
              </a:ext>
            </a:extLst>
          </p:cNvPr>
          <p:cNvSpPr txBox="1"/>
          <p:nvPr/>
        </p:nvSpPr>
        <p:spPr>
          <a:xfrm>
            <a:off x="3352800" y="2010424"/>
            <a:ext cx="8396588" cy="3416320"/>
          </a:xfrm>
          <a:prstGeom prst="rect">
            <a:avLst/>
          </a:prstGeom>
          <a:noFill/>
        </p:spPr>
        <p:txBody>
          <a:bodyPr wrap="square">
            <a:spAutoFit/>
          </a:bodyPr>
          <a:lstStyle/>
          <a:p>
            <a:pPr algn="justLow" rtl="1"/>
            <a:endParaRPr lang="ar-SA" u="none" strike="noStrike" dirty="0">
              <a:solidFill>
                <a:srgbClr val="000000"/>
              </a:solidFill>
              <a:effectLst/>
              <a:latin typeface="29LT Azer Extra Light" pitchFamily="2" charset="-78"/>
              <a:cs typeface="29LT Azer Extra Light" pitchFamily="2" charset="-78"/>
            </a:endParaRPr>
          </a:p>
          <a:p>
            <a:pPr algn="justLow" rtl="1">
              <a:buFont typeface="+mj-lt"/>
              <a:buAutoNum type="arabicPeriod"/>
            </a:pPr>
            <a:r>
              <a:rPr lang="ar-SA" b="1" u="none" strike="noStrike" dirty="0">
                <a:solidFill>
                  <a:srgbClr val="000000"/>
                </a:solidFill>
                <a:effectLst/>
                <a:latin typeface="29LT Azer Extra Light" pitchFamily="2" charset="-78"/>
                <a:cs typeface="29LT Azer Extra Light" pitchFamily="2" charset="-78"/>
              </a:rPr>
              <a:t>تحديد الجمهور المستهدف:</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البحث الديموغرافي: تحديد العمر، الجنس، الموقع الجغرافي، المستوى التعليمي، الدخل، وغيرها من الخصائص الديموغرافية للجمهور المستهدف.</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البحث </a:t>
            </a:r>
            <a:r>
              <a:rPr lang="ar-SA" u="none" strike="noStrike" dirty="0" err="1">
                <a:solidFill>
                  <a:srgbClr val="000000"/>
                </a:solidFill>
                <a:effectLst/>
                <a:latin typeface="29LT Azer Extra Light" pitchFamily="2" charset="-78"/>
                <a:cs typeface="29LT Azer Extra Light" pitchFamily="2" charset="-78"/>
              </a:rPr>
              <a:t>السيكوغرافي</a:t>
            </a:r>
            <a:r>
              <a:rPr lang="ar-SA" u="none" strike="noStrike" dirty="0">
                <a:solidFill>
                  <a:srgbClr val="000000"/>
                </a:solidFill>
                <a:effectLst/>
                <a:latin typeface="29LT Azer Extra Light" pitchFamily="2" charset="-78"/>
                <a:cs typeface="29LT Azer Extra Light" pitchFamily="2" charset="-78"/>
              </a:rPr>
              <a:t>: فهم القيم، الاهتمامات، والسلوكيات التي تميز الجمهور المستهدف.</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البحث عن السلوك: دراسة سلوك المستهلك عبر الإنترنت وخارجه لفهم كيفية تفاعلهم مع العلامات التجارية.</a:t>
            </a:r>
          </a:p>
          <a:p>
            <a:pPr algn="justLow" rtl="1">
              <a:buFont typeface="+mj-lt"/>
              <a:buAutoNum type="arabicPeriod"/>
            </a:pPr>
            <a:r>
              <a:rPr lang="ar-SA" b="1" u="none" strike="noStrike" dirty="0">
                <a:solidFill>
                  <a:srgbClr val="000000"/>
                </a:solidFill>
                <a:effectLst/>
                <a:latin typeface="29LT Azer Extra Light" pitchFamily="2" charset="-78"/>
                <a:cs typeface="29LT Azer Extra Light" pitchFamily="2" charset="-78"/>
              </a:rPr>
              <a:t>بناء استراتيجية جذب الجمهور: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تحديد القنوات: اختيار القنوات المناسبة للوصول إلى الجمهور المستهدف (وسائل التواصل الاجتماعي، محركات البحث، البريد الإلكتروني، الإعلانات، العلاقات العامة، وغيرها).</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إنشاء محتوى جذاب: إنتاج محتوى قيم ومفيد يجذب انتباه الجمهور المستهدف.</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تحديد رسالة واضحة: صياغة رسالة واضحة ومميزة تعكس قيمة العلامة التجارية.</a:t>
            </a:r>
            <a:endParaRPr lang="ar-SA" dirty="0">
              <a:latin typeface="29LT Azer Extra Light" pitchFamily="2" charset="-78"/>
              <a:cs typeface="29LT Azer Extra Light" pitchFamily="2" charset="-78"/>
            </a:endParaRPr>
          </a:p>
        </p:txBody>
      </p:sp>
      <p:sp>
        <p:nvSpPr>
          <p:cNvPr id="8" name="مربع نص 7">
            <a:extLst>
              <a:ext uri="{FF2B5EF4-FFF2-40B4-BE49-F238E27FC236}">
                <a16:creationId xmlns:a16="http://schemas.microsoft.com/office/drawing/2014/main" id="{44AB15A7-51AA-E6E2-BC79-A9EA92DEF434}"/>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Tree>
    <p:extLst>
      <p:ext uri="{BB962C8B-B14F-4D97-AF65-F5344CB8AC3E}">
        <p14:creationId xmlns:p14="http://schemas.microsoft.com/office/powerpoint/2010/main" val="3638533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err="1">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الرعيات</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الجمهور</a:t>
            </a: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
        <p:nvSpPr>
          <p:cNvPr id="9" name="مربع نص 8">
            <a:extLst>
              <a:ext uri="{FF2B5EF4-FFF2-40B4-BE49-F238E27FC236}">
                <a16:creationId xmlns:a16="http://schemas.microsoft.com/office/drawing/2014/main" id="{76F77893-F246-F772-C67E-12E08D84E192}"/>
              </a:ext>
            </a:extLst>
          </p:cNvPr>
          <p:cNvSpPr txBox="1"/>
          <p:nvPr/>
        </p:nvSpPr>
        <p:spPr>
          <a:xfrm>
            <a:off x="3182157" y="2152055"/>
            <a:ext cx="8396588" cy="2585323"/>
          </a:xfrm>
          <a:prstGeom prst="rect">
            <a:avLst/>
          </a:prstGeom>
          <a:noFill/>
        </p:spPr>
        <p:txBody>
          <a:bodyPr wrap="square">
            <a:spAutoFit/>
          </a:bodyPr>
          <a:lstStyle/>
          <a:p>
            <a:pPr marL="742950" lvl="1" indent="-285750" algn="justLow" rtl="1">
              <a:buFont typeface="+mj-lt"/>
              <a:buAutoNum type="arabicPeriod"/>
            </a:pPr>
            <a:endParaRPr lang="ar-SA" u="none" strike="noStrike" dirty="0">
              <a:solidFill>
                <a:srgbClr val="000000"/>
              </a:solidFill>
              <a:effectLst/>
              <a:latin typeface="29LT Azer Extra Light" pitchFamily="2" charset="-78"/>
              <a:cs typeface="29LT Azer Extra Light" pitchFamily="2" charset="-78"/>
            </a:endParaRPr>
          </a:p>
          <a:p>
            <a:pPr algn="justLow" rtl="1"/>
            <a:r>
              <a:rPr lang="en-US" b="1" u="none" strike="noStrike" dirty="0">
                <a:solidFill>
                  <a:srgbClr val="000000"/>
                </a:solidFill>
                <a:effectLst/>
                <a:latin typeface="29LT Azer Extra Light" pitchFamily="2" charset="-78"/>
                <a:cs typeface="29LT Azer Extra Light" pitchFamily="2" charset="-78"/>
              </a:rPr>
              <a:t>.3</a:t>
            </a:r>
            <a:r>
              <a:rPr lang="ar-SA" b="1" u="none" strike="noStrike" dirty="0">
                <a:solidFill>
                  <a:srgbClr val="000000"/>
                </a:solidFill>
                <a:effectLst/>
                <a:latin typeface="29LT Azer Extra Light" pitchFamily="2" charset="-78"/>
                <a:cs typeface="29LT Azer Extra Light" pitchFamily="2" charset="-78"/>
              </a:rPr>
              <a:t>تنفيذ خطة العمل:</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إدارة الحملات التسويقية: إدارة الحملات التسويقية عبر مختلف القنوات.</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تحليل البيانات: تحليل البيانات المتعلقة بأداء الحملات لتحديد ما ينجح وما لا ينجح.</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التحسين المستمر: إجراء التعديلات اللازمة على الاستراتيجية لتحسين النتائج</a:t>
            </a:r>
          </a:p>
          <a:p>
            <a:pPr algn="justLow" rtl="1"/>
            <a:r>
              <a:rPr lang="en-US" b="1" u="none" strike="noStrike" dirty="0">
                <a:solidFill>
                  <a:srgbClr val="000000"/>
                </a:solidFill>
                <a:effectLst/>
                <a:latin typeface="29LT Azer Extra Light" pitchFamily="2" charset="-78"/>
                <a:cs typeface="29LT Azer Extra Light" pitchFamily="2" charset="-78"/>
              </a:rPr>
              <a:t>.4</a:t>
            </a:r>
            <a:r>
              <a:rPr lang="ar-SA" b="1" u="none" strike="noStrike" dirty="0">
                <a:solidFill>
                  <a:srgbClr val="000000"/>
                </a:solidFill>
                <a:effectLst/>
                <a:latin typeface="29LT Azer Extra Light" pitchFamily="2" charset="-78"/>
                <a:cs typeface="29LT Azer Extra Light" pitchFamily="2" charset="-78"/>
              </a:rPr>
              <a:t>بناء علاقات مع الجمهور: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التفاعل مع الجمهور: الرد على استفسارات الجمهور وتعليقاتهم.</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بناء مجتمع: إنشاء مجتمع من المتابعين المخلصين للعلامة التجارية.</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بناء شراكات: بناء شراكات مع مؤثرين وعلامات تجارية أخرى.</a:t>
            </a:r>
          </a:p>
        </p:txBody>
      </p:sp>
      <p:sp>
        <p:nvSpPr>
          <p:cNvPr id="14" name="مربع نص 13">
            <a:extLst>
              <a:ext uri="{FF2B5EF4-FFF2-40B4-BE49-F238E27FC236}">
                <a16:creationId xmlns:a16="http://schemas.microsoft.com/office/drawing/2014/main" id="{867FF131-6BA8-D7ED-0EDD-E312EF7B01BE}"/>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Tree>
    <p:extLst>
      <p:ext uri="{BB962C8B-B14F-4D97-AF65-F5344CB8AC3E}">
        <p14:creationId xmlns:p14="http://schemas.microsoft.com/office/powerpoint/2010/main" val="1610699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tx2">
              <a:lumMod val="10000"/>
              <a:lumOff val="9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الرعايا</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الرعايا</a:t>
            </a: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
        <p:nvSpPr>
          <p:cNvPr id="9" name="مربع نص 8">
            <a:extLst>
              <a:ext uri="{FF2B5EF4-FFF2-40B4-BE49-F238E27FC236}">
                <a16:creationId xmlns:a16="http://schemas.microsoft.com/office/drawing/2014/main" id="{76F77893-F246-F772-C67E-12E08D84E192}"/>
              </a:ext>
            </a:extLst>
          </p:cNvPr>
          <p:cNvSpPr txBox="1"/>
          <p:nvPr/>
        </p:nvSpPr>
        <p:spPr>
          <a:xfrm>
            <a:off x="3182157" y="2152055"/>
            <a:ext cx="8396588" cy="2585323"/>
          </a:xfrm>
          <a:prstGeom prst="rect">
            <a:avLst/>
          </a:prstGeom>
          <a:noFill/>
        </p:spPr>
        <p:txBody>
          <a:bodyPr wrap="square">
            <a:spAutoFit/>
          </a:bodyPr>
          <a:lstStyle/>
          <a:p>
            <a:pPr marL="742950" lvl="1" indent="-285750" algn="justLow" rtl="1">
              <a:buFont typeface="+mj-lt"/>
              <a:buAutoNum type="arabicPeriod"/>
            </a:pPr>
            <a:endParaRPr lang="ar-SA" u="none" strike="noStrike" dirty="0">
              <a:solidFill>
                <a:srgbClr val="000000"/>
              </a:solidFill>
              <a:effectLst/>
              <a:latin typeface="29LT Azer Extra Light" pitchFamily="2" charset="-78"/>
              <a:cs typeface="29LT Azer Extra Light" pitchFamily="2" charset="-78"/>
            </a:endParaRPr>
          </a:p>
          <a:p>
            <a:pPr algn="justLow" rtl="1"/>
            <a:r>
              <a:rPr lang="en-US" b="1" u="none" strike="noStrike" dirty="0">
                <a:solidFill>
                  <a:srgbClr val="000000"/>
                </a:solidFill>
                <a:effectLst/>
                <a:latin typeface="29LT Azer Extra Light" pitchFamily="2" charset="-78"/>
                <a:cs typeface="29LT Azer Extra Light" pitchFamily="2" charset="-78"/>
              </a:rPr>
              <a:t>.3</a:t>
            </a:r>
            <a:r>
              <a:rPr lang="ar-SA" b="1" u="none" strike="noStrike" dirty="0">
                <a:solidFill>
                  <a:srgbClr val="000000"/>
                </a:solidFill>
                <a:effectLst/>
                <a:latin typeface="29LT Azer Extra Light" pitchFamily="2" charset="-78"/>
                <a:cs typeface="29LT Azer Extra Light" pitchFamily="2" charset="-78"/>
              </a:rPr>
              <a:t>تنفيذ خطة العمل:</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إدارة الحملات التسويقية: إدارة الحملات التسويقية عبر مختلف القنوات.</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تحليل البيانات: تحليل البيانات المتعلقة بأداء الحملات لتحديد ما ينجح وما لا ينجح.</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التحسين المستمر: إجراء التعديلات اللازمة على الاستراتيجية لتحسين النتائج</a:t>
            </a:r>
          </a:p>
          <a:p>
            <a:pPr algn="justLow" rtl="1"/>
            <a:r>
              <a:rPr lang="en-US" b="1" u="none" strike="noStrike" dirty="0">
                <a:solidFill>
                  <a:srgbClr val="000000"/>
                </a:solidFill>
                <a:effectLst/>
                <a:latin typeface="29LT Azer Extra Light" pitchFamily="2" charset="-78"/>
                <a:cs typeface="29LT Azer Extra Light" pitchFamily="2" charset="-78"/>
              </a:rPr>
              <a:t>.4</a:t>
            </a:r>
            <a:r>
              <a:rPr lang="ar-SA" b="1" u="none" strike="noStrike" dirty="0">
                <a:solidFill>
                  <a:srgbClr val="000000"/>
                </a:solidFill>
                <a:effectLst/>
                <a:latin typeface="29LT Azer Extra Light" pitchFamily="2" charset="-78"/>
                <a:cs typeface="29LT Azer Extra Light" pitchFamily="2" charset="-78"/>
              </a:rPr>
              <a:t>بناء علاقات مع الجمهور: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التفاعل مع الجمهور: الرد على استفسارات الجمهور وتعليقاتهم.</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بناء مجتمع: إنشاء مجتمع من المتابعين المخلصين للعلامة التجارية.</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بناء شراكات: بناء شراكات مع مؤثرين وعلامات تجارية أخرى.</a:t>
            </a:r>
          </a:p>
        </p:txBody>
      </p:sp>
      <p:sp>
        <p:nvSpPr>
          <p:cNvPr id="8" name="مربع نص 7">
            <a:extLst>
              <a:ext uri="{FF2B5EF4-FFF2-40B4-BE49-F238E27FC236}">
                <a16:creationId xmlns:a16="http://schemas.microsoft.com/office/drawing/2014/main" id="{1041D48C-2120-4129-CF0A-61B452901337}"/>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Tree>
    <p:extLst>
      <p:ext uri="{BB962C8B-B14F-4D97-AF65-F5344CB8AC3E}">
        <p14:creationId xmlns:p14="http://schemas.microsoft.com/office/powerpoint/2010/main" val="405296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الرعايا</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 </a:t>
            </a: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
        <p:nvSpPr>
          <p:cNvPr id="9" name="مربع نص 8">
            <a:extLst>
              <a:ext uri="{FF2B5EF4-FFF2-40B4-BE49-F238E27FC236}">
                <a16:creationId xmlns:a16="http://schemas.microsoft.com/office/drawing/2014/main" id="{76F77893-F246-F772-C67E-12E08D84E192}"/>
              </a:ext>
            </a:extLst>
          </p:cNvPr>
          <p:cNvSpPr txBox="1"/>
          <p:nvPr/>
        </p:nvSpPr>
        <p:spPr>
          <a:xfrm>
            <a:off x="3161562" y="1590204"/>
            <a:ext cx="8396588" cy="4801314"/>
          </a:xfrm>
          <a:prstGeom prst="rect">
            <a:avLst/>
          </a:prstGeom>
          <a:noFill/>
        </p:spPr>
        <p:txBody>
          <a:bodyPr wrap="square">
            <a:spAutoFit/>
          </a:bodyPr>
          <a:lstStyle/>
          <a:p>
            <a:pPr algn="justLow" rtl="1"/>
            <a:endParaRPr lang="ar-SA" u="none" strike="noStrike" dirty="0">
              <a:solidFill>
                <a:srgbClr val="000000"/>
              </a:solidFill>
              <a:effectLst/>
              <a:latin typeface="29LT Azer Extra Light" pitchFamily="2" charset="-78"/>
              <a:cs typeface="29LT Azer Extra Light" pitchFamily="2" charset="-78"/>
            </a:endParaRPr>
          </a:p>
          <a:p>
            <a:pPr algn="justLow" rtl="1">
              <a:buFont typeface="+mj-lt"/>
              <a:buAutoNum type="arabicPeriod"/>
            </a:pPr>
            <a:r>
              <a:rPr lang="ar-SA" b="1" u="none" strike="noStrike" dirty="0">
                <a:solidFill>
                  <a:srgbClr val="000000"/>
                </a:solidFill>
                <a:effectLst/>
                <a:latin typeface="29LT Azer Extra Light" pitchFamily="2" charset="-78"/>
                <a:cs typeface="29LT Azer Extra Light" pitchFamily="2" charset="-78"/>
              </a:rPr>
              <a:t>تحديد الاحتياجات:</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فهم العملاء: دراسة احتياجات ورغبات العملاء الحالية والمستقبلية.</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تحليل السوق: دراسة السوق وتحديد الفجوات والفرص.</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تحديد التحديات: تحديد التحديات التي تواجه المنظمة والبحث عن حلول مبتكرة لها.</a:t>
            </a:r>
          </a:p>
          <a:p>
            <a:pPr algn="justLow" rtl="1">
              <a:buFont typeface="+mj-lt"/>
              <a:buAutoNum type="arabicPeriod"/>
            </a:pPr>
            <a:r>
              <a:rPr lang="ar-SA" b="1" u="none" strike="noStrike" dirty="0">
                <a:solidFill>
                  <a:srgbClr val="000000"/>
                </a:solidFill>
                <a:effectLst/>
                <a:latin typeface="29LT Azer Extra Light" pitchFamily="2" charset="-78"/>
                <a:cs typeface="29LT Azer Extra Light" pitchFamily="2" charset="-78"/>
              </a:rPr>
              <a:t>توليد الأفكار: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عصف ذهني: تنظيم جلسات عصف ذهني لتوليد أكبر عدد ممكن من الأفكار.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استخدام أدوات الإبداع: استخدام أدوات مثل مخططات العقل، وقوائم التحقق، وألعاب الابتكار.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البحث والاستكشاف: البحث في مجالات جديدة ومعرفة التطورات التكنولوجية.</a:t>
            </a:r>
          </a:p>
          <a:p>
            <a:pPr algn="justLow" rtl="1">
              <a:buFont typeface="+mj-lt"/>
              <a:buAutoNum type="arabicPeriod"/>
            </a:pPr>
            <a:r>
              <a:rPr lang="ar-SA" b="1" u="none" strike="noStrike" dirty="0">
                <a:solidFill>
                  <a:srgbClr val="000000"/>
                </a:solidFill>
                <a:effectLst/>
                <a:latin typeface="29LT Azer Extra Light" pitchFamily="2" charset="-78"/>
                <a:cs typeface="29LT Azer Extra Light" pitchFamily="2" charset="-78"/>
              </a:rPr>
              <a:t>تقييم الأفكار: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تحديد المعايير: تحديد المعايير التي سيتم استخدامها لتقييم الأفكار.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تحليل الجدوى: تحليل الجدوى الاقتصادية والتقنية لكل فكرة.</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اختيار أفضل الأفكار: اختيار الأفكار التي لديها القدرة الأكبر على تحقيق النجاح.</a:t>
            </a:r>
          </a:p>
          <a:p>
            <a:pPr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تطوير الأفكار: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تحويل الأفكار إلى نماذج أولية: تحويل الأفكار إلى نماذج أولية لاختبارها وتطويرها.</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التعاون مع الفرق المختلفة: العمل مع الفرق المختلفة في المنظمة لتنفيذ الأفكار.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إدارة المخاطر: تحديد المخاطر المحتملة وإدارة المخاطر.</a:t>
            </a:r>
          </a:p>
        </p:txBody>
      </p:sp>
      <p:sp>
        <p:nvSpPr>
          <p:cNvPr id="8" name="مربع نص 7">
            <a:extLst>
              <a:ext uri="{FF2B5EF4-FFF2-40B4-BE49-F238E27FC236}">
                <a16:creationId xmlns:a16="http://schemas.microsoft.com/office/drawing/2014/main" id="{0E249BC7-3D09-0AA8-C502-9518B79C8FAF}"/>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Tree>
    <p:extLst>
      <p:ext uri="{BB962C8B-B14F-4D97-AF65-F5344CB8AC3E}">
        <p14:creationId xmlns:p14="http://schemas.microsoft.com/office/powerpoint/2010/main" val="1794671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الرعايا</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 </a:t>
            </a: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
        <p:nvSpPr>
          <p:cNvPr id="9" name="مربع نص 8">
            <a:extLst>
              <a:ext uri="{FF2B5EF4-FFF2-40B4-BE49-F238E27FC236}">
                <a16:creationId xmlns:a16="http://schemas.microsoft.com/office/drawing/2014/main" id="{76F77893-F246-F772-C67E-12E08D84E192}"/>
              </a:ext>
            </a:extLst>
          </p:cNvPr>
          <p:cNvSpPr txBox="1"/>
          <p:nvPr/>
        </p:nvSpPr>
        <p:spPr>
          <a:xfrm>
            <a:off x="3161562" y="1590204"/>
            <a:ext cx="8396588" cy="1477328"/>
          </a:xfrm>
          <a:prstGeom prst="rect">
            <a:avLst/>
          </a:prstGeom>
          <a:noFill/>
        </p:spPr>
        <p:txBody>
          <a:bodyPr wrap="square">
            <a:spAutoFit/>
          </a:bodyPr>
          <a:lstStyle/>
          <a:p>
            <a:pPr algn="justLow" rtl="1"/>
            <a:endParaRPr lang="ar-SA" u="none" strike="noStrike" dirty="0">
              <a:solidFill>
                <a:srgbClr val="000000"/>
              </a:solidFill>
              <a:effectLst/>
              <a:latin typeface="29LT Azer Extra Light" pitchFamily="2" charset="-78"/>
              <a:cs typeface="29LT Azer Extra Light" pitchFamily="2" charset="-78"/>
            </a:endParaRPr>
          </a:p>
          <a:p>
            <a:pPr algn="justLow" rtl="1"/>
            <a:r>
              <a:rPr lang="en-US" b="1" u="none" strike="noStrike" dirty="0">
                <a:solidFill>
                  <a:srgbClr val="000000"/>
                </a:solidFill>
                <a:effectLst/>
                <a:latin typeface="29LT Azer Extra Light" pitchFamily="2" charset="-78"/>
                <a:cs typeface="29LT Azer Extra Light" pitchFamily="2" charset="-78"/>
              </a:rPr>
              <a:t>.6</a:t>
            </a:r>
            <a:r>
              <a:rPr lang="ar-SA" b="1" u="none" strike="noStrike" dirty="0">
                <a:solidFill>
                  <a:srgbClr val="000000"/>
                </a:solidFill>
                <a:effectLst/>
                <a:latin typeface="29LT Azer Extra Light" pitchFamily="2" charset="-78"/>
                <a:cs typeface="29LT Azer Extra Light" pitchFamily="2" charset="-78"/>
              </a:rPr>
              <a:t>تنفيذ الأفكار:</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إطلاق المنتج أو الخدمة: إطلاق المنتج أو الخدمة الجديد في السوق.</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التسويق والترويج: تسويق المنتج أو الخدمة الجديد لجذب العملاء.</a:t>
            </a:r>
          </a:p>
          <a:p>
            <a:pPr marL="742950" lvl="1" indent="-285750" algn="justLow" rtl="1">
              <a:buFont typeface="+mj-lt"/>
              <a:buAutoNum type="arabicPeriod"/>
            </a:pPr>
            <a:r>
              <a:rPr lang="ar-SA" u="none" strike="noStrike" dirty="0">
                <a:solidFill>
                  <a:srgbClr val="000000"/>
                </a:solidFill>
                <a:effectLst/>
                <a:latin typeface="29LT Azer Extra Light" pitchFamily="2" charset="-78"/>
                <a:cs typeface="29LT Azer Extra Light" pitchFamily="2" charset="-78"/>
              </a:rPr>
              <a:t>قياس الأداء: قياس أداء الابتكار وتقييم نتائجه.</a:t>
            </a:r>
          </a:p>
        </p:txBody>
      </p:sp>
      <p:sp>
        <p:nvSpPr>
          <p:cNvPr id="8" name="مربع نص 7">
            <a:extLst>
              <a:ext uri="{FF2B5EF4-FFF2-40B4-BE49-F238E27FC236}">
                <a16:creationId xmlns:a16="http://schemas.microsoft.com/office/drawing/2014/main" id="{238858D7-B288-648F-AE56-562945306587}"/>
              </a:ext>
            </a:extLst>
          </p:cNvPr>
          <p:cNvSpPr txBox="1"/>
          <p:nvPr/>
        </p:nvSpPr>
        <p:spPr>
          <a:xfrm>
            <a:off x="5235065" y="434568"/>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Tree>
    <p:extLst>
      <p:ext uri="{BB962C8B-B14F-4D97-AF65-F5344CB8AC3E}">
        <p14:creationId xmlns:p14="http://schemas.microsoft.com/office/powerpoint/2010/main" val="750065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ستطيل ذو زاوية واحدة مقصوصة 1">
            <a:extLst>
              <a:ext uri="{FF2B5EF4-FFF2-40B4-BE49-F238E27FC236}">
                <a16:creationId xmlns:a16="http://schemas.microsoft.com/office/drawing/2014/main" id="{E73DA696-CA28-57F1-329C-0981B7BBA9AB}"/>
              </a:ext>
            </a:extLst>
          </p:cNvPr>
          <p:cNvSpPr/>
          <p:nvPr/>
        </p:nvSpPr>
        <p:spPr>
          <a:xfrm>
            <a:off x="0" y="0"/>
            <a:ext cx="2499953" cy="6858000"/>
          </a:xfrm>
          <a:prstGeom prst="snip1Rect">
            <a:avLst/>
          </a:prstGeom>
          <a:solidFill>
            <a:srgbClr val="00206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7" name="Rounded Rectangle 6">
            <a:extLst>
              <a:ext uri="{FF2B5EF4-FFF2-40B4-BE49-F238E27FC236}">
                <a16:creationId xmlns:a16="http://schemas.microsoft.com/office/drawing/2014/main" id="{843D996C-8D46-0050-7179-A4C43CEB7BDF}"/>
              </a:ext>
            </a:extLst>
          </p:cNvPr>
          <p:cNvSpPr/>
          <p:nvPr/>
        </p:nvSpPr>
        <p:spPr>
          <a:xfrm>
            <a:off x="3807824" y="385124"/>
            <a:ext cx="7941564"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5" name="Rounded Rectangle 14">
            <a:extLst>
              <a:ext uri="{FF2B5EF4-FFF2-40B4-BE49-F238E27FC236}">
                <a16:creationId xmlns:a16="http://schemas.microsoft.com/office/drawing/2014/main" id="{CF95F689-2BE2-C8FA-CA8A-83FCD6DFEFBC}"/>
              </a:ext>
            </a:extLst>
          </p:cNvPr>
          <p:cNvSpPr/>
          <p:nvPr/>
        </p:nvSpPr>
        <p:spPr>
          <a:xfrm>
            <a:off x="3182157" y="385124"/>
            <a:ext cx="504000" cy="504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grpSp>
        <p:nvGrpSpPr>
          <p:cNvPr id="19" name="Group 18">
            <a:extLst>
              <a:ext uri="{FF2B5EF4-FFF2-40B4-BE49-F238E27FC236}">
                <a16:creationId xmlns:a16="http://schemas.microsoft.com/office/drawing/2014/main" id="{86927348-6AB6-5C34-5D04-5EF6404D0F57}"/>
              </a:ext>
            </a:extLst>
          </p:cNvPr>
          <p:cNvGrpSpPr/>
          <p:nvPr/>
        </p:nvGrpSpPr>
        <p:grpSpPr>
          <a:xfrm>
            <a:off x="257622" y="6398259"/>
            <a:ext cx="11561642" cy="357984"/>
            <a:chOff x="257622" y="6398259"/>
            <a:chExt cx="11561642" cy="357984"/>
          </a:xfrm>
        </p:grpSpPr>
        <p:sp>
          <p:nvSpPr>
            <p:cNvPr id="20" name="Rounded Rectangle 19">
              <a:extLst>
                <a:ext uri="{FF2B5EF4-FFF2-40B4-BE49-F238E27FC236}">
                  <a16:creationId xmlns:a16="http://schemas.microsoft.com/office/drawing/2014/main" id="{9899C9EC-6387-0E9A-884D-2F5F05D7E641}"/>
                </a:ext>
              </a:extLst>
            </p:cNvPr>
            <p:cNvSpPr/>
            <p:nvPr/>
          </p:nvSpPr>
          <p:spPr>
            <a:xfrm>
              <a:off x="233274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1" name="Rounded Rectangle 20">
              <a:extLst>
                <a:ext uri="{FF2B5EF4-FFF2-40B4-BE49-F238E27FC236}">
                  <a16:creationId xmlns:a16="http://schemas.microsoft.com/office/drawing/2014/main" id="{249F5E74-155F-F034-7BC5-B51D4D3DBB14}"/>
                </a:ext>
              </a:extLst>
            </p:cNvPr>
            <p:cNvSpPr/>
            <p:nvPr/>
          </p:nvSpPr>
          <p:spPr>
            <a:xfrm>
              <a:off x="2499953" y="6537960"/>
              <a:ext cx="9319311"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2" name="Rounded Rectangle 21">
              <a:extLst>
                <a:ext uri="{FF2B5EF4-FFF2-40B4-BE49-F238E27FC236}">
                  <a16:creationId xmlns:a16="http://schemas.microsoft.com/office/drawing/2014/main" id="{4A30DD6D-20EE-6424-99A8-2D83F39723DA}"/>
                </a:ext>
              </a:extLst>
            </p:cNvPr>
            <p:cNvSpPr/>
            <p:nvPr/>
          </p:nvSpPr>
          <p:spPr>
            <a:xfrm>
              <a:off x="2165533" y="6537960"/>
              <a:ext cx="72000" cy="72000"/>
            </a:xfrm>
            <a:prstGeom prst="roundRect">
              <a:avLst>
                <a:gd name="adj" fmla="val 50000"/>
              </a:avLst>
            </a:prstGeom>
            <a:solidFill>
              <a:srgbClr val="002F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pic>
          <p:nvPicPr>
            <p:cNvPr id="23" name="Picture 22">
              <a:extLst>
                <a:ext uri="{FF2B5EF4-FFF2-40B4-BE49-F238E27FC236}">
                  <a16:creationId xmlns:a16="http://schemas.microsoft.com/office/drawing/2014/main" id="{A2CAF9D0-D337-2368-B449-261ED639491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57622" y="6398259"/>
              <a:ext cx="1812701" cy="357984"/>
            </a:xfrm>
            <a:prstGeom prst="rect">
              <a:avLst/>
            </a:prstGeom>
          </p:spPr>
        </p:pic>
      </p:grpSp>
      <p:sp>
        <p:nvSpPr>
          <p:cNvPr id="3" name="مستطيل مستدير الزوايا 2">
            <a:extLst>
              <a:ext uri="{FF2B5EF4-FFF2-40B4-BE49-F238E27FC236}">
                <a16:creationId xmlns:a16="http://schemas.microsoft.com/office/drawing/2014/main" id="{8BFBB1CA-946D-8C86-5E7A-31D257294C21}"/>
              </a:ext>
            </a:extLst>
          </p:cNvPr>
          <p:cNvSpPr/>
          <p:nvPr/>
        </p:nvSpPr>
        <p:spPr>
          <a:xfrm>
            <a:off x="132522" y="74989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صناعة المحتوى </a:t>
            </a:r>
          </a:p>
        </p:txBody>
      </p:sp>
      <p:sp>
        <p:nvSpPr>
          <p:cNvPr id="4" name="مستطيل مستدير الزوايا 3">
            <a:extLst>
              <a:ext uri="{FF2B5EF4-FFF2-40B4-BE49-F238E27FC236}">
                <a16:creationId xmlns:a16="http://schemas.microsoft.com/office/drawing/2014/main" id="{EBEF839A-C27B-C6F1-82C0-95CF6109F417}"/>
              </a:ext>
            </a:extLst>
          </p:cNvPr>
          <p:cNvSpPr/>
          <p:nvPr/>
        </p:nvSpPr>
        <p:spPr>
          <a:xfrm>
            <a:off x="130592" y="152782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تطوير المنتجات </a:t>
            </a:r>
          </a:p>
        </p:txBody>
      </p:sp>
      <p:sp>
        <p:nvSpPr>
          <p:cNvPr id="12" name="مستطيل مستدير الزوايا 11">
            <a:extLst>
              <a:ext uri="{FF2B5EF4-FFF2-40B4-BE49-F238E27FC236}">
                <a16:creationId xmlns:a16="http://schemas.microsoft.com/office/drawing/2014/main" id="{ED469E81-3A26-964C-B8FA-1FF6DE69124C}"/>
              </a:ext>
            </a:extLst>
          </p:cNvPr>
          <p:cNvSpPr/>
          <p:nvPr/>
        </p:nvSpPr>
        <p:spPr>
          <a:xfrm>
            <a:off x="130591" y="230575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رفع القيمة السوقية</a:t>
            </a:r>
          </a:p>
        </p:txBody>
      </p:sp>
      <p:sp>
        <p:nvSpPr>
          <p:cNvPr id="18" name="مستطيل مستدير الزوايا 17">
            <a:extLst>
              <a:ext uri="{FF2B5EF4-FFF2-40B4-BE49-F238E27FC236}">
                <a16:creationId xmlns:a16="http://schemas.microsoft.com/office/drawing/2014/main" id="{DDBF3FAE-6A52-324E-1BFD-54112435D654}"/>
              </a:ext>
            </a:extLst>
          </p:cNvPr>
          <p:cNvSpPr/>
          <p:nvPr/>
        </p:nvSpPr>
        <p:spPr>
          <a:xfrm>
            <a:off x="130590" y="3080283"/>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زيادة قاعدة العملاء </a:t>
            </a:r>
          </a:p>
        </p:txBody>
      </p:sp>
      <p:sp>
        <p:nvSpPr>
          <p:cNvPr id="24" name="مستطيل مستدير الزوايا 23">
            <a:extLst>
              <a:ext uri="{FF2B5EF4-FFF2-40B4-BE49-F238E27FC236}">
                <a16:creationId xmlns:a16="http://schemas.microsoft.com/office/drawing/2014/main" id="{03961745-CB16-403A-FB6C-180CFDFDBA22}"/>
              </a:ext>
            </a:extLst>
          </p:cNvPr>
          <p:cNvSpPr/>
          <p:nvPr/>
        </p:nvSpPr>
        <p:spPr>
          <a:xfrm>
            <a:off x="138636" y="3854813"/>
            <a:ext cx="2200221" cy="728869"/>
          </a:xfrm>
          <a:prstGeom prst="round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الرعايا</a:t>
            </a:r>
            <a:endParaRPr lang="ar-SA" dirty="0"/>
          </a:p>
        </p:txBody>
      </p:sp>
      <p:sp>
        <p:nvSpPr>
          <p:cNvPr id="26" name="مربع نص 25">
            <a:extLst>
              <a:ext uri="{FF2B5EF4-FFF2-40B4-BE49-F238E27FC236}">
                <a16:creationId xmlns:a16="http://schemas.microsoft.com/office/drawing/2014/main" id="{BCC5FB5C-4C77-4E9B-12BA-B8F162E5AEDA}"/>
              </a:ext>
            </a:extLst>
          </p:cNvPr>
          <p:cNvSpPr txBox="1"/>
          <p:nvPr/>
        </p:nvSpPr>
        <p:spPr>
          <a:xfrm>
            <a:off x="6629400" y="1323635"/>
            <a:ext cx="6102626" cy="369332"/>
          </a:xfrm>
          <a:prstGeom prst="rect">
            <a:avLst/>
          </a:prstGeom>
          <a:noFill/>
        </p:spPr>
        <p:txBody>
          <a:bodyPr wrap="square">
            <a:spAutoFit/>
          </a:bodyPr>
          <a:lstStyle/>
          <a:p>
            <a:pPr marL="0" algn="ctr" defTabSz="914400" rtl="0" eaLnBrk="1" latinLnBrk="0" hangingPunct="1"/>
            <a:r>
              <a:rPr lang="ar-SA"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a:t>
            </a:r>
            <a:endPar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endParaRPr>
          </a:p>
        </p:txBody>
      </p:sp>
      <p:sp>
        <p:nvSpPr>
          <p:cNvPr id="6" name="Rounded Rectangle 15">
            <a:extLst>
              <a:ext uri="{FF2B5EF4-FFF2-40B4-BE49-F238E27FC236}">
                <a16:creationId xmlns:a16="http://schemas.microsoft.com/office/drawing/2014/main" id="{B3CE6DBC-0610-A67D-49AA-6BF5F38CF4B3}"/>
              </a:ext>
            </a:extLst>
          </p:cNvPr>
          <p:cNvSpPr/>
          <p:nvPr/>
        </p:nvSpPr>
        <p:spPr>
          <a:xfrm>
            <a:off x="10553796" y="1006178"/>
            <a:ext cx="777269" cy="751484"/>
          </a:xfrm>
          <a:prstGeom prst="roundRect">
            <a:avLst>
              <a:gd name="adj" fmla="val 5000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11" name="مستطيل مستدير الزوايا 10">
            <a:extLst>
              <a:ext uri="{FF2B5EF4-FFF2-40B4-BE49-F238E27FC236}">
                <a16:creationId xmlns:a16="http://schemas.microsoft.com/office/drawing/2014/main" id="{FC13298F-6019-5620-97A5-7639E24FF4F7}"/>
              </a:ext>
            </a:extLst>
          </p:cNvPr>
          <p:cNvSpPr/>
          <p:nvPr/>
        </p:nvSpPr>
        <p:spPr>
          <a:xfrm>
            <a:off x="129420" y="4620424"/>
            <a:ext cx="2200221" cy="728869"/>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الابتكار</a:t>
            </a:r>
          </a:p>
        </p:txBody>
      </p:sp>
      <p:sp>
        <p:nvSpPr>
          <p:cNvPr id="13" name="مستطيل مستدير الزوايا 12">
            <a:extLst>
              <a:ext uri="{FF2B5EF4-FFF2-40B4-BE49-F238E27FC236}">
                <a16:creationId xmlns:a16="http://schemas.microsoft.com/office/drawing/2014/main" id="{CEFEF6B6-CE96-1D16-06E9-60D562D371D9}"/>
              </a:ext>
            </a:extLst>
          </p:cNvPr>
          <p:cNvSpPr/>
          <p:nvPr/>
        </p:nvSpPr>
        <p:spPr>
          <a:xfrm>
            <a:off x="117739" y="5386036"/>
            <a:ext cx="2200221" cy="72886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914400" rtl="1" eaLnBrk="1" latinLnBrk="0" hangingPunct="1"/>
            <a:r>
              <a:rPr lang="ar-SA" sz="1800" dirty="0">
                <a:solidFill>
                  <a:schemeClr val="accent1">
                    <a:lumMod val="50000"/>
                  </a:schemeClr>
                </a:solidFill>
                <a:latin typeface="Geeza Pro" panose="02000400000000000000" pitchFamily="2" charset="-78"/>
                <a:ea typeface="Apple Color Emoji" pitchFamily="2" charset="0"/>
                <a:cs typeface="Geeza Pro" panose="02000400000000000000" pitchFamily="2" charset="-78"/>
              </a:rPr>
              <a:t>دراسة السوق </a:t>
            </a:r>
          </a:p>
        </p:txBody>
      </p:sp>
      <p:sp>
        <p:nvSpPr>
          <p:cNvPr id="9" name="مربع نص 8">
            <a:extLst>
              <a:ext uri="{FF2B5EF4-FFF2-40B4-BE49-F238E27FC236}">
                <a16:creationId xmlns:a16="http://schemas.microsoft.com/office/drawing/2014/main" id="{76F77893-F246-F772-C67E-12E08D84E192}"/>
              </a:ext>
            </a:extLst>
          </p:cNvPr>
          <p:cNvSpPr txBox="1"/>
          <p:nvPr/>
        </p:nvSpPr>
        <p:spPr>
          <a:xfrm>
            <a:off x="3161562" y="1590204"/>
            <a:ext cx="8396588" cy="4247317"/>
          </a:xfrm>
          <a:prstGeom prst="rect">
            <a:avLst/>
          </a:prstGeom>
          <a:noFill/>
        </p:spPr>
        <p:txBody>
          <a:bodyPr wrap="square">
            <a:spAutoFit/>
          </a:bodyPr>
          <a:lstStyle/>
          <a:p>
            <a:pPr algn="justLow" rtl="1">
              <a:buFont typeface="Arial" panose="020B0604020202020204" pitchFamily="34" charset="0"/>
              <a:buChar char="•"/>
            </a:pPr>
            <a:endParaRPr lang="ar-SA" u="none" strike="noStrike" dirty="0">
              <a:solidFill>
                <a:srgbClr val="000000"/>
              </a:solidFill>
              <a:effectLst/>
              <a:latin typeface="29LT Azer Extra Light" pitchFamily="2" charset="-78"/>
              <a:cs typeface="29LT Azer Extra Light" pitchFamily="2" charset="-78"/>
            </a:endParaRPr>
          </a:p>
          <a:p>
            <a:pPr algn="justLow" rtl="1"/>
            <a:r>
              <a:rPr lang="ar-SA" b="1" u="none" strike="noStrike" dirty="0">
                <a:solidFill>
                  <a:srgbClr val="000000"/>
                </a:solidFill>
                <a:effectLst/>
                <a:latin typeface="29LT Azer Extra Light" pitchFamily="2" charset="-78"/>
                <a:cs typeface="29LT Azer Extra Light" pitchFamily="2" charset="-78"/>
              </a:rPr>
              <a:t> جمع البيانات:</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الإشراف على عملية جمع البيانات من خلال الباحثين الميدانيين أو الشركات المتخصصة.</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ضمان جودة البيانات وجمعها في الوقت المحدد.</a:t>
            </a:r>
            <a:r>
              <a:rPr lang="ar-SA" b="1" u="none" strike="noStrike" dirty="0">
                <a:solidFill>
                  <a:srgbClr val="000000"/>
                </a:solidFill>
                <a:effectLst/>
                <a:latin typeface="29LT Azer Extra Light" pitchFamily="2" charset="-78"/>
                <a:cs typeface="29LT Azer Extra Light" pitchFamily="2" charset="-78"/>
              </a:rPr>
              <a:t> </a:t>
            </a:r>
            <a:endParaRPr lang="ar-SA" b="1" dirty="0">
              <a:solidFill>
                <a:srgbClr val="000000"/>
              </a:solidFill>
              <a:latin typeface="29LT Azer Extra Light" pitchFamily="2" charset="-78"/>
              <a:cs typeface="29LT Azer Extra Light" pitchFamily="2" charset="-78"/>
            </a:endParaRPr>
          </a:p>
          <a:p>
            <a:pPr algn="justLow" rtl="1"/>
            <a:r>
              <a:rPr lang="ar-SA" b="1" u="none" strike="noStrike" dirty="0">
                <a:solidFill>
                  <a:srgbClr val="000000"/>
                </a:solidFill>
                <a:effectLst/>
                <a:latin typeface="29LT Azer Extra Light" pitchFamily="2" charset="-78"/>
                <a:cs typeface="29LT Azer Extra Light" pitchFamily="2" charset="-78"/>
              </a:rPr>
              <a:t>تحليل البيانات:</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استخدام أدوات التحليل الإحصائي لتحليل البيانات الكمية والنوعية.</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اكتشاف الأنماط والاتجاهات في البيانات.</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تفسير النتائج وتحويلها إلى معلومات قابلة للاستخدام.</a:t>
            </a:r>
          </a:p>
          <a:p>
            <a:pPr algn="justLow" rtl="1"/>
            <a:r>
              <a:rPr lang="ar-SA" b="1" u="none" strike="noStrike" dirty="0">
                <a:solidFill>
                  <a:srgbClr val="000000"/>
                </a:solidFill>
                <a:effectLst/>
                <a:latin typeface="29LT Azer Extra Light" pitchFamily="2" charset="-78"/>
                <a:cs typeface="29LT Azer Extra Light" pitchFamily="2" charset="-78"/>
              </a:rPr>
              <a:t> إعداد التقارير:</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تحضير تقارير مفصلة حول نتائج الدراسة.</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تقديم توصيات واضحة بناءً على النتائج.</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عرض النتائج بطريقة مبسطة وواضحة للمدراء التنفيذيين.</a:t>
            </a:r>
          </a:p>
          <a:p>
            <a:pPr algn="justLow" rtl="1"/>
            <a:r>
              <a:rPr lang="ar-SA" b="1" u="none" strike="noStrike" dirty="0">
                <a:solidFill>
                  <a:srgbClr val="000000"/>
                </a:solidFill>
                <a:effectLst/>
                <a:latin typeface="29LT Azer Extra Light" pitchFamily="2" charset="-78"/>
                <a:cs typeface="29LT Azer Extra Light" pitchFamily="2" charset="-78"/>
              </a:rPr>
              <a:t>متابعة التوصيات:</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متابعة تنفيذ التوصيات التي تم تقديمها.</a:t>
            </a:r>
          </a:p>
          <a:p>
            <a:pPr algn="justLow" rtl="1">
              <a:buFont typeface="Arial" panose="020B0604020202020204" pitchFamily="34" charset="0"/>
              <a:buChar char="•"/>
            </a:pPr>
            <a:r>
              <a:rPr lang="ar-SA" u="none" strike="noStrike" dirty="0">
                <a:solidFill>
                  <a:srgbClr val="000000"/>
                </a:solidFill>
                <a:effectLst/>
                <a:latin typeface="29LT Azer Extra Light" pitchFamily="2" charset="-78"/>
                <a:cs typeface="29LT Azer Extra Light" pitchFamily="2" charset="-78"/>
              </a:rPr>
              <a:t>قياس تأثير الدراسة على اتخاذ القرارات التسويقية.</a:t>
            </a:r>
          </a:p>
        </p:txBody>
      </p:sp>
      <p:sp>
        <p:nvSpPr>
          <p:cNvPr id="8" name="مربع نص 7">
            <a:extLst>
              <a:ext uri="{FF2B5EF4-FFF2-40B4-BE49-F238E27FC236}">
                <a16:creationId xmlns:a16="http://schemas.microsoft.com/office/drawing/2014/main" id="{9FCC2E48-89BD-D4B0-11F0-FFC1BB4F7E91}"/>
              </a:ext>
            </a:extLst>
          </p:cNvPr>
          <p:cNvSpPr txBox="1"/>
          <p:nvPr/>
        </p:nvSpPr>
        <p:spPr>
          <a:xfrm>
            <a:off x="5325681" y="438530"/>
            <a:ext cx="6096000" cy="369332"/>
          </a:xfrm>
          <a:prstGeom prst="rect">
            <a:avLst/>
          </a:prstGeom>
          <a:noFill/>
        </p:spPr>
        <p:txBody>
          <a:bodyPr wrap="square">
            <a:spAutoFit/>
          </a:bodyPr>
          <a:lstStyle/>
          <a:p>
            <a:pPr marL="0" algn="r" defTabSz="914400" rtl="1" eaLnBrk="1" latinLnBrk="0" hangingPunct="1"/>
            <a:r>
              <a:rPr lang="ar-SA" b="1" dirty="0">
                <a:solidFill>
                  <a:schemeClr val="bg1"/>
                </a:solidFill>
                <a:latin typeface="Omnes Arabic" pitchFamily="2" charset="-78"/>
                <a:cs typeface="Omnes Arabic" pitchFamily="2" charset="-78"/>
              </a:rPr>
              <a:t>التطوير الغائي </a:t>
            </a:r>
            <a:endParaRPr lang="ar-SA" dirty="0">
              <a:solidFill>
                <a:schemeClr val="bg1"/>
              </a:solidFill>
            </a:endParaRPr>
          </a:p>
        </p:txBody>
      </p:sp>
    </p:spTree>
    <p:extLst>
      <p:ext uri="{BB962C8B-B14F-4D97-AF65-F5344CB8AC3E}">
        <p14:creationId xmlns:p14="http://schemas.microsoft.com/office/powerpoint/2010/main" val="11188772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692</TotalTime>
  <Words>2380</Words>
  <Application>Microsoft Macintosh PowerPoint</Application>
  <PresentationFormat>شاشة عريضة</PresentationFormat>
  <Paragraphs>374</Paragraphs>
  <Slides>29</Slides>
  <Notes>0</Notes>
  <HiddenSlides>0</HiddenSlides>
  <MMClips>0</MMClips>
  <ScaleCrop>false</ScaleCrop>
  <HeadingPairs>
    <vt:vector size="6" baseType="variant">
      <vt:variant>
        <vt:lpstr>الخطوط المستخدمة</vt:lpstr>
      </vt:variant>
      <vt:variant>
        <vt:i4>9</vt:i4>
      </vt:variant>
      <vt:variant>
        <vt:lpstr>نسق</vt:lpstr>
      </vt:variant>
      <vt:variant>
        <vt:i4>1</vt:i4>
      </vt:variant>
      <vt:variant>
        <vt:lpstr>عناوين الشرائح</vt:lpstr>
      </vt:variant>
      <vt:variant>
        <vt:i4>29</vt:i4>
      </vt:variant>
    </vt:vector>
  </HeadingPairs>
  <TitlesOfParts>
    <vt:vector size="39" baseType="lpstr">
      <vt:lpstr>29LT Azer Extra Light</vt:lpstr>
      <vt:lpstr>Aptos</vt:lpstr>
      <vt:lpstr>Aptos Display</vt:lpstr>
      <vt:lpstr>Arial</vt:lpstr>
      <vt:lpstr>Courier New</vt:lpstr>
      <vt:lpstr>Geeza Pro</vt:lpstr>
      <vt:lpstr>Omnes Arabic</vt:lpstr>
      <vt:lpstr>Omnes Arabic Light</vt:lpstr>
      <vt:lpstr>Wingdings</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mohammad almutairi</dc:creator>
  <cp:lastModifiedBy>AHMED ALHAZMI</cp:lastModifiedBy>
  <cp:revision>5</cp:revision>
  <dcterms:created xsi:type="dcterms:W3CDTF">2024-08-05T02:59:46Z</dcterms:created>
  <dcterms:modified xsi:type="dcterms:W3CDTF">2024-08-07T11:34:49Z</dcterms:modified>
</cp:coreProperties>
</file>